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60" r:id="rId2"/>
    <p:sldMasterId id="2147483684" r:id="rId3"/>
    <p:sldMasterId id="2147483708" r:id="rId4"/>
  </p:sldMasterIdLst>
  <p:notesMasterIdLst>
    <p:notesMasterId r:id="rId108"/>
  </p:notesMasterIdLst>
  <p:sldIdLst>
    <p:sldId id="848" r:id="rId5"/>
    <p:sldId id="849" r:id="rId6"/>
    <p:sldId id="672" r:id="rId7"/>
    <p:sldId id="686" r:id="rId8"/>
    <p:sldId id="653" r:id="rId9"/>
    <p:sldId id="715" r:id="rId10"/>
    <p:sldId id="789" r:id="rId11"/>
    <p:sldId id="790" r:id="rId12"/>
    <p:sldId id="791" r:id="rId13"/>
    <p:sldId id="792" r:id="rId14"/>
    <p:sldId id="793" r:id="rId15"/>
    <p:sldId id="796" r:id="rId16"/>
    <p:sldId id="797" r:id="rId17"/>
    <p:sldId id="798" r:id="rId18"/>
    <p:sldId id="799" r:id="rId19"/>
    <p:sldId id="800" r:id="rId20"/>
    <p:sldId id="801" r:id="rId21"/>
    <p:sldId id="802" r:id="rId22"/>
    <p:sldId id="805" r:id="rId23"/>
    <p:sldId id="862" r:id="rId24"/>
    <p:sldId id="863" r:id="rId25"/>
    <p:sldId id="821" r:id="rId26"/>
    <p:sldId id="808" r:id="rId27"/>
    <p:sldId id="795" r:id="rId28"/>
    <p:sldId id="713" r:id="rId29"/>
    <p:sldId id="712" r:id="rId30"/>
    <p:sldId id="711" r:id="rId31"/>
    <p:sldId id="663" r:id="rId32"/>
    <p:sldId id="716" r:id="rId33"/>
    <p:sldId id="717" r:id="rId34"/>
    <p:sldId id="718" r:id="rId35"/>
    <p:sldId id="723" r:id="rId36"/>
    <p:sldId id="724" r:id="rId37"/>
    <p:sldId id="725" r:id="rId38"/>
    <p:sldId id="726" r:id="rId39"/>
    <p:sldId id="720" r:id="rId40"/>
    <p:sldId id="728" r:id="rId41"/>
    <p:sldId id="729" r:id="rId42"/>
    <p:sldId id="730" r:id="rId43"/>
    <p:sldId id="731" r:id="rId44"/>
    <p:sldId id="732" r:id="rId45"/>
    <p:sldId id="738" r:id="rId46"/>
    <p:sldId id="824" r:id="rId47"/>
    <p:sldId id="825" r:id="rId48"/>
    <p:sldId id="826" r:id="rId49"/>
    <p:sldId id="827" r:id="rId50"/>
    <p:sldId id="828" r:id="rId51"/>
    <p:sldId id="829" r:id="rId52"/>
    <p:sldId id="830" r:id="rId53"/>
    <p:sldId id="831" r:id="rId54"/>
    <p:sldId id="832" r:id="rId55"/>
    <p:sldId id="833" r:id="rId56"/>
    <p:sldId id="834" r:id="rId57"/>
    <p:sldId id="835" r:id="rId58"/>
    <p:sldId id="733" r:id="rId59"/>
    <p:sldId id="734" r:id="rId60"/>
    <p:sldId id="735" r:id="rId61"/>
    <p:sldId id="737" r:id="rId62"/>
    <p:sldId id="736" r:id="rId63"/>
    <p:sldId id="740" r:id="rId64"/>
    <p:sldId id="739" r:id="rId65"/>
    <p:sldId id="741" r:id="rId66"/>
    <p:sldId id="742" r:id="rId67"/>
    <p:sldId id="743" r:id="rId68"/>
    <p:sldId id="850" r:id="rId69"/>
    <p:sldId id="851" r:id="rId70"/>
    <p:sldId id="852" r:id="rId71"/>
    <p:sldId id="853" r:id="rId72"/>
    <p:sldId id="854" r:id="rId73"/>
    <p:sldId id="855" r:id="rId74"/>
    <p:sldId id="856" r:id="rId75"/>
    <p:sldId id="857" r:id="rId76"/>
    <p:sldId id="858" r:id="rId77"/>
    <p:sldId id="859" r:id="rId78"/>
    <p:sldId id="860" r:id="rId79"/>
    <p:sldId id="861" r:id="rId80"/>
    <p:sldId id="748" r:id="rId81"/>
    <p:sldId id="822" r:id="rId82"/>
    <p:sldId id="749" r:id="rId83"/>
    <p:sldId id="750" r:id="rId84"/>
    <p:sldId id="751" r:id="rId85"/>
    <p:sldId id="752" r:id="rId86"/>
    <p:sldId id="753" r:id="rId87"/>
    <p:sldId id="754" r:id="rId88"/>
    <p:sldId id="756" r:id="rId89"/>
    <p:sldId id="755" r:id="rId90"/>
    <p:sldId id="757" r:id="rId91"/>
    <p:sldId id="758" r:id="rId92"/>
    <p:sldId id="823" r:id="rId93"/>
    <p:sldId id="760" r:id="rId94"/>
    <p:sldId id="811" r:id="rId95"/>
    <p:sldId id="810" r:id="rId96"/>
    <p:sldId id="814" r:id="rId97"/>
    <p:sldId id="813" r:id="rId98"/>
    <p:sldId id="812" r:id="rId99"/>
    <p:sldId id="819" r:id="rId100"/>
    <p:sldId id="818" r:id="rId101"/>
    <p:sldId id="817" r:id="rId102"/>
    <p:sldId id="816" r:id="rId103"/>
    <p:sldId id="815" r:id="rId104"/>
    <p:sldId id="809" r:id="rId105"/>
    <p:sldId id="646" r:id="rId106"/>
    <p:sldId id="701" r:id="rId107"/>
  </p:sldIdLst>
  <p:sldSz cx="9144000" cy="6858000" type="screen4x3"/>
  <p:notesSz cx="6888163" cy="100203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EE8AA"/>
    <a:srgbClr val="FFCC66"/>
    <a:srgbClr val="FFCC00"/>
    <a:srgbClr val="FF3300"/>
    <a:srgbClr val="C46700"/>
    <a:srgbClr val="FF9900"/>
    <a:srgbClr val="CC6B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7289" autoAdjust="0"/>
    <p:restoredTop sz="99023" autoAdjust="0"/>
  </p:normalViewPr>
  <p:slideViewPr>
    <p:cSldViewPr>
      <p:cViewPr>
        <p:scale>
          <a:sx n="70" d="100"/>
          <a:sy n="70" d="100"/>
        </p:scale>
        <p:origin x="-318" y="-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87" Type="http://schemas.openxmlformats.org/officeDocument/2006/relationships/slide" Target="slides/slide83.xml"/><Relationship Id="rId102" Type="http://schemas.openxmlformats.org/officeDocument/2006/relationships/slide" Target="slides/slide98.xml"/><Relationship Id="rId110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presProps" Target="pres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871" cy="50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3292" y="0"/>
            <a:ext cx="2984871" cy="50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0888"/>
            <a:ext cx="5008563" cy="37576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8422" y="4759643"/>
            <a:ext cx="5051320" cy="4509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9285"/>
            <a:ext cx="2984871" cy="50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3292" y="9519285"/>
            <a:ext cx="2984871" cy="501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16" tIns="48308" rIns="96616" bIns="48308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37A62EC9-8754-488A-A0F0-151A9638F17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602698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9" name="Rectangle 59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8902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grpSp>
        <p:nvGrpSpPr>
          <p:cNvPr id="5180" name="Group 60"/>
          <p:cNvGrpSpPr>
            <a:grpSpLocks/>
          </p:cNvGrpSpPr>
          <p:nvPr/>
        </p:nvGrpSpPr>
        <p:grpSpPr bwMode="auto">
          <a:xfrm>
            <a:off x="152400" y="25400"/>
            <a:ext cx="8839200" cy="6604000"/>
            <a:chOff x="96" y="16"/>
            <a:chExt cx="5568" cy="4160"/>
          </a:xfrm>
        </p:grpSpPr>
        <p:sp>
          <p:nvSpPr>
            <p:cNvPr id="5181" name="Rectangle 61"/>
            <p:cNvSpPr>
              <a:spLocks noChangeArrowheads="1"/>
            </p:cNvSpPr>
            <p:nvPr userDrawn="1"/>
          </p:nvSpPr>
          <p:spPr bwMode="auto">
            <a:xfrm>
              <a:off x="9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2" name="Rectangle 62"/>
            <p:cNvSpPr>
              <a:spLocks noChangeArrowheads="1"/>
            </p:cNvSpPr>
            <p:nvPr userDrawn="1"/>
          </p:nvSpPr>
          <p:spPr bwMode="auto">
            <a:xfrm>
              <a:off x="9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3" name="Rectangle 63"/>
            <p:cNvSpPr>
              <a:spLocks noChangeArrowheads="1"/>
            </p:cNvSpPr>
            <p:nvPr userDrawn="1"/>
          </p:nvSpPr>
          <p:spPr bwMode="auto">
            <a:xfrm>
              <a:off x="9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4" name="Rectangle 64"/>
            <p:cNvSpPr>
              <a:spLocks noChangeArrowheads="1"/>
            </p:cNvSpPr>
            <p:nvPr userDrawn="1"/>
          </p:nvSpPr>
          <p:spPr bwMode="auto">
            <a:xfrm>
              <a:off x="1228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5" name="Rectangle 65"/>
            <p:cNvSpPr>
              <a:spLocks noChangeArrowheads="1"/>
            </p:cNvSpPr>
            <p:nvPr userDrawn="1"/>
          </p:nvSpPr>
          <p:spPr bwMode="auto">
            <a:xfrm>
              <a:off x="1228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6" name="Rectangle 66"/>
            <p:cNvSpPr>
              <a:spLocks noChangeArrowheads="1"/>
            </p:cNvSpPr>
            <p:nvPr userDrawn="1"/>
          </p:nvSpPr>
          <p:spPr bwMode="auto">
            <a:xfrm>
              <a:off x="1228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7" name="Rectangle 67"/>
            <p:cNvSpPr>
              <a:spLocks noChangeArrowheads="1"/>
            </p:cNvSpPr>
            <p:nvPr userDrawn="1"/>
          </p:nvSpPr>
          <p:spPr bwMode="auto">
            <a:xfrm>
              <a:off x="2361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8" name="Rectangle 68"/>
            <p:cNvSpPr>
              <a:spLocks noChangeArrowheads="1"/>
            </p:cNvSpPr>
            <p:nvPr userDrawn="1"/>
          </p:nvSpPr>
          <p:spPr bwMode="auto">
            <a:xfrm>
              <a:off x="2361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89" name="Rectangle 69"/>
            <p:cNvSpPr>
              <a:spLocks noChangeArrowheads="1"/>
            </p:cNvSpPr>
            <p:nvPr userDrawn="1"/>
          </p:nvSpPr>
          <p:spPr bwMode="auto">
            <a:xfrm>
              <a:off x="2361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0" name="Rectangle 70"/>
            <p:cNvSpPr>
              <a:spLocks noChangeArrowheads="1"/>
            </p:cNvSpPr>
            <p:nvPr userDrawn="1"/>
          </p:nvSpPr>
          <p:spPr bwMode="auto">
            <a:xfrm>
              <a:off x="3493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1" name="Rectangle 71"/>
            <p:cNvSpPr>
              <a:spLocks noChangeArrowheads="1"/>
            </p:cNvSpPr>
            <p:nvPr userDrawn="1"/>
          </p:nvSpPr>
          <p:spPr bwMode="auto">
            <a:xfrm>
              <a:off x="3493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2" name="Rectangle 72"/>
            <p:cNvSpPr>
              <a:spLocks noChangeArrowheads="1"/>
            </p:cNvSpPr>
            <p:nvPr userDrawn="1"/>
          </p:nvSpPr>
          <p:spPr bwMode="auto">
            <a:xfrm>
              <a:off x="3493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3" name="Rectangle 73"/>
            <p:cNvSpPr>
              <a:spLocks noChangeArrowheads="1"/>
            </p:cNvSpPr>
            <p:nvPr userDrawn="1"/>
          </p:nvSpPr>
          <p:spPr bwMode="auto">
            <a:xfrm>
              <a:off x="462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4" name="Rectangle 74"/>
            <p:cNvSpPr>
              <a:spLocks noChangeArrowheads="1"/>
            </p:cNvSpPr>
            <p:nvPr userDrawn="1"/>
          </p:nvSpPr>
          <p:spPr bwMode="auto">
            <a:xfrm>
              <a:off x="462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5" name="Rectangle 75"/>
            <p:cNvSpPr>
              <a:spLocks noChangeArrowheads="1"/>
            </p:cNvSpPr>
            <p:nvPr userDrawn="1"/>
          </p:nvSpPr>
          <p:spPr bwMode="auto">
            <a:xfrm>
              <a:off x="462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6" name="Rectangle 76"/>
            <p:cNvSpPr>
              <a:spLocks noChangeArrowheads="1"/>
            </p:cNvSpPr>
            <p:nvPr userDrawn="1"/>
          </p:nvSpPr>
          <p:spPr bwMode="auto">
            <a:xfrm>
              <a:off x="9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7" name="Rectangle 77"/>
            <p:cNvSpPr>
              <a:spLocks noChangeArrowheads="1"/>
            </p:cNvSpPr>
            <p:nvPr userDrawn="1"/>
          </p:nvSpPr>
          <p:spPr bwMode="auto">
            <a:xfrm>
              <a:off x="1228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8" name="Rectangle 78"/>
            <p:cNvSpPr>
              <a:spLocks noChangeArrowheads="1"/>
            </p:cNvSpPr>
            <p:nvPr userDrawn="1"/>
          </p:nvSpPr>
          <p:spPr bwMode="auto">
            <a:xfrm>
              <a:off x="2361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199" name="Rectangle 79"/>
            <p:cNvSpPr>
              <a:spLocks noChangeArrowheads="1"/>
            </p:cNvSpPr>
            <p:nvPr userDrawn="1"/>
          </p:nvSpPr>
          <p:spPr bwMode="auto">
            <a:xfrm>
              <a:off x="3493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5200" name="Rectangle 80"/>
            <p:cNvSpPr>
              <a:spLocks noChangeArrowheads="1"/>
            </p:cNvSpPr>
            <p:nvPr userDrawn="1"/>
          </p:nvSpPr>
          <p:spPr bwMode="auto">
            <a:xfrm>
              <a:off x="462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5140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685800" y="3771900"/>
            <a:ext cx="7772400" cy="1143000"/>
          </a:xfrm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ja-JP" altLang="en-US" noProof="0" smtClean="0"/>
              <a:t>マスター タイトルの書式設定</a:t>
            </a:r>
          </a:p>
        </p:txBody>
      </p:sp>
      <p:sp>
        <p:nvSpPr>
          <p:cNvPr id="5151" name="Line 31"/>
          <p:cNvSpPr>
            <a:spLocks noChangeShapeType="1"/>
          </p:cNvSpPr>
          <p:nvPr/>
        </p:nvSpPr>
        <p:spPr bwMode="auto">
          <a:xfrm>
            <a:off x="0" y="4914900"/>
            <a:ext cx="9144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52" name="Line 32"/>
          <p:cNvSpPr>
            <a:spLocks noChangeShapeType="1"/>
          </p:cNvSpPr>
          <p:nvPr/>
        </p:nvSpPr>
        <p:spPr bwMode="auto">
          <a:xfrm>
            <a:off x="0" y="4991100"/>
            <a:ext cx="91440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141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685800" y="5029200"/>
            <a:ext cx="7772400" cy="533400"/>
          </a:xfrm>
        </p:spPr>
        <p:txBody>
          <a:bodyPr/>
          <a:lstStyle>
            <a:lvl1pPr marL="0" indent="0" algn="r">
              <a:buFontTx/>
              <a:buNone/>
              <a:defRPr sz="2800"/>
            </a:lvl1pPr>
          </a:lstStyle>
          <a:p>
            <a:pPr lvl="0"/>
            <a:r>
              <a:rPr lang="ja-JP" altLang="en-US" noProof="0" smtClean="0"/>
              <a:t>マスター サブタイトルの書式設定</a:t>
            </a:r>
          </a:p>
        </p:txBody>
      </p:sp>
      <p:sp>
        <p:nvSpPr>
          <p:cNvPr id="5142" name="Rectangle 22"/>
          <p:cNvSpPr>
            <a:spLocks noGrp="1" noChangeArrowheads="1"/>
          </p:cNvSpPr>
          <p:nvPr>
            <p:ph type="dt" sz="half" idx="2"/>
          </p:nvPr>
        </p:nvSpPr>
        <p:spPr>
          <a:xfrm>
            <a:off x="6934200" y="304800"/>
            <a:ext cx="1905000" cy="304800"/>
          </a:xfrm>
        </p:spPr>
        <p:txBody>
          <a:bodyPr/>
          <a:lstStyle>
            <a:lvl1pPr algn="r">
              <a:defRPr b="1"/>
            </a:lvl1pPr>
          </a:lstStyle>
          <a:p>
            <a:fld id="{D080A23C-9DC9-48C1-8C43-D28CC1CEC1B3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5143" name="Rectangle 23"/>
          <p:cNvSpPr>
            <a:spLocks noGrp="1" noChangeArrowheads="1"/>
          </p:cNvSpPr>
          <p:nvPr>
            <p:ph type="ftr" sz="quarter" idx="3"/>
          </p:nvPr>
        </p:nvSpPr>
        <p:spPr>
          <a:xfrm>
            <a:off x="5943600" y="609600"/>
            <a:ext cx="2895600" cy="304800"/>
          </a:xfrm>
        </p:spPr>
        <p:txBody>
          <a:bodyPr/>
          <a:lstStyle>
            <a:lvl1pPr algn="r">
              <a:defRPr b="1"/>
            </a:lvl1pPr>
          </a:lstStyle>
          <a:p>
            <a:endParaRPr lang="en-US" altLang="ja-JP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24D127-5175-4018-99EF-7A6AD97D6655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5C416F-E0AF-426F-8F1D-C0F13A330148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4037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F38064-C969-4206-96AD-7FDA11745226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B0878-ECA3-4144-9979-4122A8A294E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0954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33400" y="1219200"/>
            <a:ext cx="396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96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B5BE88-7DCF-4705-8E16-84A07E67FD07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9CF5B-70A5-4F6E-A29B-4D201939A2B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19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C425F3-F593-4FA3-9647-E3923A1ACF50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6B38B-C5B8-4EA1-8904-6D449FA6FA62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4913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3E0511-F189-46C7-B86B-18C3D869C0C5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EB845-7FD1-4C47-80B2-736797BFD35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7239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78BD66-56D1-40A7-AC27-6EB7DBF716AA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5E78A-9A9E-449D-AF5E-69E8A397C8D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59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3A4F9E-6A50-453B-9C11-3E265F33FAC4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A6258-4FFC-4CFA-9436-ED67CAEB6CCE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6108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1F0119-E175-47DD-A2E5-A303F11F9E85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2D5BC0-2EA3-4A7E-86B2-C6BACB6ABEB4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593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279941-0A27-4D0D-8322-5F81A2936B43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EFCEA8-0CBC-4EA5-B376-842BF427742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6150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05600" y="0"/>
            <a:ext cx="2133600" cy="6096000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6248400" cy="6096000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E6177E-1ACE-4ED4-A977-81B2EB3ADE04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4CDB7-523E-4E97-A0A3-F44B728BA305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04045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A23C-9DC9-48C1-8C43-D28CC1CEC1B3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CD2DA-CEF5-4908-A30D-99F7F04CB3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947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D127-5175-4018-99EF-7A6AD97D6655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C416F-E0AF-426F-8F1D-C0F13A330148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4987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8064-C969-4206-96AD-7FDA11745226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0878-ECA3-4144-9979-4122A8A294E6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257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BE88-7DCF-4705-8E16-84A07E67FD07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CF5B-70A5-4F6E-A29B-4D201939A2BB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4471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25F3-F593-4FA3-9647-E3923A1ACF50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6B38B-C5B8-4EA1-8904-6D449FA6FA62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355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E0511-F189-46C7-B86B-18C3D869C0C5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B845-7FD1-4C47-80B2-736797BFD355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5727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BD66-56D1-40A7-AC27-6EB7DBF716AA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E78A-9A9E-449D-AF5E-69E8A397C8DB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60839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4F9E-6A50-453B-9C11-3E265F33FAC4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6258-4FFC-4CFA-9436-ED67CAEB6CCE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8819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0119-E175-47DD-A2E5-A303F11F9E85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D5BC0-2EA3-4A7E-86B2-C6BACB6ABEB4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1627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79941-0A27-4D0D-8322-5F81A2936B43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CEA8-0CBC-4EA5-B376-842BF427742B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3764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177E-1ACE-4ED4-A977-81B2EB3ADE04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CDB7-523E-4E97-A0A3-F44B728BA305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7234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0A23C-9DC9-48C1-8C43-D28CC1CEC1B3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CD2DA-CEF5-4908-A30D-99F7F04CB3FE}" type="slidenum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48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4D127-5175-4018-99EF-7A6AD97D6655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C416F-E0AF-426F-8F1D-C0F13A330148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44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38064-C969-4206-96AD-7FDA11745226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2B0878-ECA3-4144-9979-4122A8A294E6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54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5BE88-7DCF-4705-8E16-84A07E67FD07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CF5B-70A5-4F6E-A29B-4D201939A2BB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93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425F3-F593-4FA3-9647-E3923A1ACF50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6B38B-C5B8-4EA1-8904-6D449FA6FA62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64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E0511-F189-46C7-B86B-18C3D869C0C5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EB845-7FD1-4C47-80B2-736797BFD355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76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BD66-56D1-40A7-AC27-6EB7DBF716AA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95E78A-9A9E-449D-AF5E-69E8A397C8DB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5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A4F9E-6A50-453B-9C11-3E265F33FAC4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6258-4FFC-4CFA-9436-ED67CAEB6CCE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73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F0119-E175-47DD-A2E5-A303F11F9E85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D5BC0-2EA3-4A7E-86B2-C6BACB6ABEB4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2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79941-0A27-4D0D-8322-5F81A2936B43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EFCEA8-0CBC-4EA5-B376-842BF427742B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34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177E-1ACE-4ED4-A977-81B2EB3ADE04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4CDB7-523E-4E97-A0A3-F44B728BA305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83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9" name="Rectangle 59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8902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>
              <a:solidFill>
                <a:srgbClr val="000000"/>
              </a:solidFill>
            </a:endParaRPr>
          </a:p>
        </p:txBody>
      </p:sp>
      <p:grpSp>
        <p:nvGrpSpPr>
          <p:cNvPr id="5180" name="Group 60"/>
          <p:cNvGrpSpPr>
            <a:grpSpLocks/>
          </p:cNvGrpSpPr>
          <p:nvPr/>
        </p:nvGrpSpPr>
        <p:grpSpPr bwMode="auto">
          <a:xfrm>
            <a:off x="152400" y="25400"/>
            <a:ext cx="8839200" cy="6604000"/>
            <a:chOff x="96" y="16"/>
            <a:chExt cx="5568" cy="4160"/>
          </a:xfrm>
        </p:grpSpPr>
        <p:sp>
          <p:nvSpPr>
            <p:cNvPr id="5181" name="Rectangle 61"/>
            <p:cNvSpPr>
              <a:spLocks noChangeArrowheads="1"/>
            </p:cNvSpPr>
            <p:nvPr userDrawn="1"/>
          </p:nvSpPr>
          <p:spPr bwMode="auto">
            <a:xfrm>
              <a:off x="9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2" name="Rectangle 62"/>
            <p:cNvSpPr>
              <a:spLocks noChangeArrowheads="1"/>
            </p:cNvSpPr>
            <p:nvPr userDrawn="1"/>
          </p:nvSpPr>
          <p:spPr bwMode="auto">
            <a:xfrm>
              <a:off x="9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3" name="Rectangle 63"/>
            <p:cNvSpPr>
              <a:spLocks noChangeArrowheads="1"/>
            </p:cNvSpPr>
            <p:nvPr userDrawn="1"/>
          </p:nvSpPr>
          <p:spPr bwMode="auto">
            <a:xfrm>
              <a:off x="9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4" name="Rectangle 64"/>
            <p:cNvSpPr>
              <a:spLocks noChangeArrowheads="1"/>
            </p:cNvSpPr>
            <p:nvPr userDrawn="1"/>
          </p:nvSpPr>
          <p:spPr bwMode="auto">
            <a:xfrm>
              <a:off x="1228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5" name="Rectangle 65"/>
            <p:cNvSpPr>
              <a:spLocks noChangeArrowheads="1"/>
            </p:cNvSpPr>
            <p:nvPr userDrawn="1"/>
          </p:nvSpPr>
          <p:spPr bwMode="auto">
            <a:xfrm>
              <a:off x="1228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6" name="Rectangle 66"/>
            <p:cNvSpPr>
              <a:spLocks noChangeArrowheads="1"/>
            </p:cNvSpPr>
            <p:nvPr userDrawn="1"/>
          </p:nvSpPr>
          <p:spPr bwMode="auto">
            <a:xfrm>
              <a:off x="1228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7" name="Rectangle 67"/>
            <p:cNvSpPr>
              <a:spLocks noChangeArrowheads="1"/>
            </p:cNvSpPr>
            <p:nvPr userDrawn="1"/>
          </p:nvSpPr>
          <p:spPr bwMode="auto">
            <a:xfrm>
              <a:off x="2361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8" name="Rectangle 68"/>
            <p:cNvSpPr>
              <a:spLocks noChangeArrowheads="1"/>
            </p:cNvSpPr>
            <p:nvPr userDrawn="1"/>
          </p:nvSpPr>
          <p:spPr bwMode="auto">
            <a:xfrm>
              <a:off x="2361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89" name="Rectangle 69"/>
            <p:cNvSpPr>
              <a:spLocks noChangeArrowheads="1"/>
            </p:cNvSpPr>
            <p:nvPr userDrawn="1"/>
          </p:nvSpPr>
          <p:spPr bwMode="auto">
            <a:xfrm>
              <a:off x="2361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0" name="Rectangle 70"/>
            <p:cNvSpPr>
              <a:spLocks noChangeArrowheads="1"/>
            </p:cNvSpPr>
            <p:nvPr userDrawn="1"/>
          </p:nvSpPr>
          <p:spPr bwMode="auto">
            <a:xfrm>
              <a:off x="3493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1" name="Rectangle 71"/>
            <p:cNvSpPr>
              <a:spLocks noChangeArrowheads="1"/>
            </p:cNvSpPr>
            <p:nvPr userDrawn="1"/>
          </p:nvSpPr>
          <p:spPr bwMode="auto">
            <a:xfrm>
              <a:off x="3493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2" name="Rectangle 72"/>
            <p:cNvSpPr>
              <a:spLocks noChangeArrowheads="1"/>
            </p:cNvSpPr>
            <p:nvPr userDrawn="1"/>
          </p:nvSpPr>
          <p:spPr bwMode="auto">
            <a:xfrm>
              <a:off x="3493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3" name="Rectangle 73"/>
            <p:cNvSpPr>
              <a:spLocks noChangeArrowheads="1"/>
            </p:cNvSpPr>
            <p:nvPr userDrawn="1"/>
          </p:nvSpPr>
          <p:spPr bwMode="auto">
            <a:xfrm>
              <a:off x="462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4" name="Rectangle 74"/>
            <p:cNvSpPr>
              <a:spLocks noChangeArrowheads="1"/>
            </p:cNvSpPr>
            <p:nvPr userDrawn="1"/>
          </p:nvSpPr>
          <p:spPr bwMode="auto">
            <a:xfrm>
              <a:off x="462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5" name="Rectangle 75"/>
            <p:cNvSpPr>
              <a:spLocks noChangeArrowheads="1"/>
            </p:cNvSpPr>
            <p:nvPr userDrawn="1"/>
          </p:nvSpPr>
          <p:spPr bwMode="auto">
            <a:xfrm>
              <a:off x="462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6" name="Rectangle 76"/>
            <p:cNvSpPr>
              <a:spLocks noChangeArrowheads="1"/>
            </p:cNvSpPr>
            <p:nvPr userDrawn="1"/>
          </p:nvSpPr>
          <p:spPr bwMode="auto">
            <a:xfrm>
              <a:off x="9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7" name="Rectangle 77"/>
            <p:cNvSpPr>
              <a:spLocks noChangeArrowheads="1"/>
            </p:cNvSpPr>
            <p:nvPr userDrawn="1"/>
          </p:nvSpPr>
          <p:spPr bwMode="auto">
            <a:xfrm>
              <a:off x="1228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8" name="Rectangle 78"/>
            <p:cNvSpPr>
              <a:spLocks noChangeArrowheads="1"/>
            </p:cNvSpPr>
            <p:nvPr userDrawn="1"/>
          </p:nvSpPr>
          <p:spPr bwMode="auto">
            <a:xfrm>
              <a:off x="2361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199" name="Rectangle 79"/>
            <p:cNvSpPr>
              <a:spLocks noChangeArrowheads="1"/>
            </p:cNvSpPr>
            <p:nvPr userDrawn="1"/>
          </p:nvSpPr>
          <p:spPr bwMode="auto">
            <a:xfrm>
              <a:off x="3493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5200" name="Rectangle 80"/>
            <p:cNvSpPr>
              <a:spLocks noChangeArrowheads="1"/>
            </p:cNvSpPr>
            <p:nvPr userDrawn="1"/>
          </p:nvSpPr>
          <p:spPr bwMode="auto">
            <a:xfrm>
              <a:off x="462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5140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685800" y="3771900"/>
            <a:ext cx="7772400" cy="1143000"/>
          </a:xfrm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ja-JP" altLang="en-US" noProof="0" smtClean="0"/>
              <a:t>マスター タイトルの書式設定</a:t>
            </a:r>
          </a:p>
        </p:txBody>
      </p:sp>
      <p:sp>
        <p:nvSpPr>
          <p:cNvPr id="5151" name="Line 31"/>
          <p:cNvSpPr>
            <a:spLocks noChangeShapeType="1"/>
          </p:cNvSpPr>
          <p:nvPr/>
        </p:nvSpPr>
        <p:spPr bwMode="auto">
          <a:xfrm>
            <a:off x="0" y="4914900"/>
            <a:ext cx="9144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5152" name="Line 32"/>
          <p:cNvSpPr>
            <a:spLocks noChangeShapeType="1"/>
          </p:cNvSpPr>
          <p:nvPr/>
        </p:nvSpPr>
        <p:spPr bwMode="auto">
          <a:xfrm>
            <a:off x="0" y="4991100"/>
            <a:ext cx="91440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5141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685800" y="5029200"/>
            <a:ext cx="7772400" cy="533400"/>
          </a:xfrm>
        </p:spPr>
        <p:txBody>
          <a:bodyPr/>
          <a:lstStyle>
            <a:lvl1pPr marL="0" indent="0" algn="r">
              <a:buFontTx/>
              <a:buNone/>
              <a:defRPr sz="2800"/>
            </a:lvl1pPr>
          </a:lstStyle>
          <a:p>
            <a:pPr lvl="0"/>
            <a:r>
              <a:rPr lang="ja-JP" altLang="en-US" noProof="0" smtClean="0"/>
              <a:t>マスター サブタイトルの書式設定</a:t>
            </a:r>
          </a:p>
        </p:txBody>
      </p:sp>
      <p:sp>
        <p:nvSpPr>
          <p:cNvPr id="5142" name="Rectangle 22"/>
          <p:cNvSpPr>
            <a:spLocks noGrp="1" noChangeArrowheads="1"/>
          </p:cNvSpPr>
          <p:nvPr>
            <p:ph type="dt" sz="half" idx="2"/>
          </p:nvPr>
        </p:nvSpPr>
        <p:spPr>
          <a:xfrm>
            <a:off x="6934200" y="304800"/>
            <a:ext cx="1905000" cy="304800"/>
          </a:xfrm>
        </p:spPr>
        <p:txBody>
          <a:bodyPr/>
          <a:lstStyle>
            <a:lvl1pPr algn="r">
              <a:defRPr b="1"/>
            </a:lvl1pPr>
          </a:lstStyle>
          <a:p>
            <a:fld id="{D080A23C-9DC9-48C1-8C43-D28CC1CEC1B3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5143" name="Rectangle 23"/>
          <p:cNvSpPr>
            <a:spLocks noGrp="1" noChangeArrowheads="1"/>
          </p:cNvSpPr>
          <p:nvPr>
            <p:ph type="ftr" sz="quarter" idx="3"/>
          </p:nvPr>
        </p:nvSpPr>
        <p:spPr>
          <a:xfrm>
            <a:off x="5943600" y="609600"/>
            <a:ext cx="2895600" cy="304800"/>
          </a:xfrm>
        </p:spPr>
        <p:txBody>
          <a:bodyPr/>
          <a:lstStyle>
            <a:lvl1pPr algn="r">
              <a:defRPr b="1"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7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D24D127-5175-4018-99EF-7A6AD97D6655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5C416F-E0AF-426F-8F1D-C0F13A330148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15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1F38064-C969-4206-96AD-7FDA11745226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2B0878-ECA3-4144-9979-4122A8A294E6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54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33400" y="1219200"/>
            <a:ext cx="396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9624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B5BE88-7DCF-4705-8E16-84A07E67FD07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79CF5B-70A5-4F6E-A29B-4D201939A2BB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47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C425F3-F593-4FA3-9647-E3923A1ACF50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26B38B-C5B8-4EA1-8904-6D449FA6FA62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4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3E0511-F189-46C7-B86B-18C3D869C0C5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EB845-7FD1-4C47-80B2-736797BFD355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15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78BD66-56D1-40A7-AC27-6EB7DBF716AA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5E78A-9A9E-449D-AF5E-69E8A397C8DB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23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3A4F9E-6A50-453B-9C11-3E265F33FAC4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8A6258-4FFC-4CFA-9436-ED67CAEB6CCE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59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アイコンをクリックして図を追加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1F0119-E175-47DD-A2E5-A303F11F9E85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2D5BC0-2EA3-4A7E-86B2-C6BACB6ABEB4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47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279941-0A27-4D0D-8322-5F81A2936B43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EFCEA8-0CBC-4EA5-B376-842BF427742B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47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05600" y="0"/>
            <a:ext cx="2133600" cy="6096000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6248400" cy="6096000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E6177E-1ACE-4ED4-A977-81B2EB3ADE04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84CDB7-523E-4E97-A0A3-F44B728BA305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20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Rectangle 9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8902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/>
          </a:p>
        </p:txBody>
      </p:sp>
      <p:grpSp>
        <p:nvGrpSpPr>
          <p:cNvPr id="1138" name="Group 114"/>
          <p:cNvGrpSpPr>
            <a:grpSpLocks/>
          </p:cNvGrpSpPr>
          <p:nvPr/>
        </p:nvGrpSpPr>
        <p:grpSpPr bwMode="auto">
          <a:xfrm>
            <a:off x="152400" y="25400"/>
            <a:ext cx="8839200" cy="6604000"/>
            <a:chOff x="96" y="16"/>
            <a:chExt cx="5568" cy="4160"/>
          </a:xfrm>
        </p:grpSpPr>
        <p:sp>
          <p:nvSpPr>
            <p:cNvPr id="1116" name="Rectangle 92"/>
            <p:cNvSpPr>
              <a:spLocks noChangeArrowheads="1"/>
            </p:cNvSpPr>
            <p:nvPr userDrawn="1"/>
          </p:nvSpPr>
          <p:spPr bwMode="auto">
            <a:xfrm>
              <a:off x="9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17" name="Rectangle 93"/>
            <p:cNvSpPr>
              <a:spLocks noChangeArrowheads="1"/>
            </p:cNvSpPr>
            <p:nvPr userDrawn="1"/>
          </p:nvSpPr>
          <p:spPr bwMode="auto">
            <a:xfrm>
              <a:off x="9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18" name="Rectangle 94"/>
            <p:cNvSpPr>
              <a:spLocks noChangeArrowheads="1"/>
            </p:cNvSpPr>
            <p:nvPr userDrawn="1"/>
          </p:nvSpPr>
          <p:spPr bwMode="auto">
            <a:xfrm>
              <a:off x="9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19" name="Rectangle 95"/>
            <p:cNvSpPr>
              <a:spLocks noChangeArrowheads="1"/>
            </p:cNvSpPr>
            <p:nvPr userDrawn="1"/>
          </p:nvSpPr>
          <p:spPr bwMode="auto">
            <a:xfrm>
              <a:off x="1228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0" name="Rectangle 96"/>
            <p:cNvSpPr>
              <a:spLocks noChangeArrowheads="1"/>
            </p:cNvSpPr>
            <p:nvPr userDrawn="1"/>
          </p:nvSpPr>
          <p:spPr bwMode="auto">
            <a:xfrm>
              <a:off x="1228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1" name="Rectangle 97"/>
            <p:cNvSpPr>
              <a:spLocks noChangeArrowheads="1"/>
            </p:cNvSpPr>
            <p:nvPr userDrawn="1"/>
          </p:nvSpPr>
          <p:spPr bwMode="auto">
            <a:xfrm>
              <a:off x="1228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2" name="Rectangle 98"/>
            <p:cNvSpPr>
              <a:spLocks noChangeArrowheads="1"/>
            </p:cNvSpPr>
            <p:nvPr userDrawn="1"/>
          </p:nvSpPr>
          <p:spPr bwMode="auto">
            <a:xfrm>
              <a:off x="2361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3" name="Rectangle 99"/>
            <p:cNvSpPr>
              <a:spLocks noChangeArrowheads="1"/>
            </p:cNvSpPr>
            <p:nvPr userDrawn="1"/>
          </p:nvSpPr>
          <p:spPr bwMode="auto">
            <a:xfrm>
              <a:off x="2361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4" name="Rectangle 100"/>
            <p:cNvSpPr>
              <a:spLocks noChangeArrowheads="1"/>
            </p:cNvSpPr>
            <p:nvPr userDrawn="1"/>
          </p:nvSpPr>
          <p:spPr bwMode="auto">
            <a:xfrm>
              <a:off x="2361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5" name="Rectangle 101"/>
            <p:cNvSpPr>
              <a:spLocks noChangeArrowheads="1"/>
            </p:cNvSpPr>
            <p:nvPr userDrawn="1"/>
          </p:nvSpPr>
          <p:spPr bwMode="auto">
            <a:xfrm>
              <a:off x="3493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6" name="Rectangle 102"/>
            <p:cNvSpPr>
              <a:spLocks noChangeArrowheads="1"/>
            </p:cNvSpPr>
            <p:nvPr userDrawn="1"/>
          </p:nvSpPr>
          <p:spPr bwMode="auto">
            <a:xfrm>
              <a:off x="3493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7" name="Rectangle 103"/>
            <p:cNvSpPr>
              <a:spLocks noChangeArrowheads="1"/>
            </p:cNvSpPr>
            <p:nvPr userDrawn="1"/>
          </p:nvSpPr>
          <p:spPr bwMode="auto">
            <a:xfrm>
              <a:off x="3493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8" name="Rectangle 104"/>
            <p:cNvSpPr>
              <a:spLocks noChangeArrowheads="1"/>
            </p:cNvSpPr>
            <p:nvPr userDrawn="1"/>
          </p:nvSpPr>
          <p:spPr bwMode="auto">
            <a:xfrm>
              <a:off x="462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29" name="Rectangle 105"/>
            <p:cNvSpPr>
              <a:spLocks noChangeArrowheads="1"/>
            </p:cNvSpPr>
            <p:nvPr userDrawn="1"/>
          </p:nvSpPr>
          <p:spPr bwMode="auto">
            <a:xfrm>
              <a:off x="462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30" name="Rectangle 106"/>
            <p:cNvSpPr>
              <a:spLocks noChangeArrowheads="1"/>
            </p:cNvSpPr>
            <p:nvPr userDrawn="1"/>
          </p:nvSpPr>
          <p:spPr bwMode="auto">
            <a:xfrm>
              <a:off x="462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31" name="Rectangle 107"/>
            <p:cNvSpPr>
              <a:spLocks noChangeArrowheads="1"/>
            </p:cNvSpPr>
            <p:nvPr userDrawn="1"/>
          </p:nvSpPr>
          <p:spPr bwMode="auto">
            <a:xfrm>
              <a:off x="9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32" name="Rectangle 108"/>
            <p:cNvSpPr>
              <a:spLocks noChangeArrowheads="1"/>
            </p:cNvSpPr>
            <p:nvPr userDrawn="1"/>
          </p:nvSpPr>
          <p:spPr bwMode="auto">
            <a:xfrm>
              <a:off x="1228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33" name="Rectangle 109"/>
            <p:cNvSpPr>
              <a:spLocks noChangeArrowheads="1"/>
            </p:cNvSpPr>
            <p:nvPr userDrawn="1"/>
          </p:nvSpPr>
          <p:spPr bwMode="auto">
            <a:xfrm>
              <a:off x="2361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34" name="Rectangle 110"/>
            <p:cNvSpPr>
              <a:spLocks noChangeArrowheads="1"/>
            </p:cNvSpPr>
            <p:nvPr userDrawn="1"/>
          </p:nvSpPr>
          <p:spPr bwMode="auto">
            <a:xfrm>
              <a:off x="3493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135" name="Rectangle 111"/>
            <p:cNvSpPr>
              <a:spLocks noChangeArrowheads="1"/>
            </p:cNvSpPr>
            <p:nvPr userDrawn="1"/>
          </p:nvSpPr>
          <p:spPr bwMode="auto">
            <a:xfrm>
              <a:off x="462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</p:grpSp>
      <p:sp>
        <p:nvSpPr>
          <p:cNvPr id="1136" name="Line 112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137" name="Line 11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077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</a:defRPr>
            </a:lvl1pPr>
          </a:lstStyle>
          <a:p>
            <a:fld id="{97D7055A-C988-4FBF-9213-7FC20374A47B}" type="datetime1">
              <a:rPr lang="ja-JP" altLang="en-US"/>
              <a:pPr/>
              <a:t>2014/7/20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folHlink"/>
                </a:solidFill>
              </a:defRPr>
            </a:lvl1pPr>
          </a:lstStyle>
          <a:p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fld id="{68341E11-FFF6-4E38-A8EE-94412A04DB09}" type="slidenum">
              <a:rPr lang="en-US" altLang="ja-JP"/>
              <a:pPr/>
              <a:t>‹#›</a:t>
            </a:fld>
            <a:endParaRPr lang="en-US" altLang="ja-JP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853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7055A-C988-4FBF-9213-7FC20374A47B}" type="datetime1">
              <a:rPr lang="ja-JP" altLang="en-US" smtClean="0"/>
              <a:pPr/>
              <a:t>2014/7/20</a:t>
            </a:fld>
            <a:endParaRPr lang="en-US" alt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41E11-FFF6-4E38-A8EE-94412A04DB09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0884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7055A-C988-4FBF-9213-7FC20374A47B}" type="datetime1">
              <a:rPr lang="ja-JP" altLang="en-US" smtClean="0">
                <a:solidFill>
                  <a:prstClr val="black">
                    <a:tint val="75000"/>
                  </a:prstClr>
                </a:solidFill>
              </a:rPr>
              <a:pPr/>
              <a:t>2014/7/20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41E11-FFF6-4E38-A8EE-94412A04DB09}" type="slidenum">
              <a:rPr lang="en-US" altLang="ja-JP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14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Rectangle 9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tint val="89020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ja-JP" altLang="en-US">
              <a:solidFill>
                <a:srgbClr val="000000"/>
              </a:solidFill>
            </a:endParaRPr>
          </a:p>
        </p:txBody>
      </p:sp>
      <p:grpSp>
        <p:nvGrpSpPr>
          <p:cNvPr id="1138" name="Group 114"/>
          <p:cNvGrpSpPr>
            <a:grpSpLocks/>
          </p:cNvGrpSpPr>
          <p:nvPr/>
        </p:nvGrpSpPr>
        <p:grpSpPr bwMode="auto">
          <a:xfrm>
            <a:off x="152400" y="25400"/>
            <a:ext cx="8839200" cy="6604000"/>
            <a:chOff x="96" y="16"/>
            <a:chExt cx="5568" cy="4160"/>
          </a:xfrm>
        </p:grpSpPr>
        <p:sp>
          <p:nvSpPr>
            <p:cNvPr id="1116" name="Rectangle 92"/>
            <p:cNvSpPr>
              <a:spLocks noChangeArrowheads="1"/>
            </p:cNvSpPr>
            <p:nvPr userDrawn="1"/>
          </p:nvSpPr>
          <p:spPr bwMode="auto">
            <a:xfrm>
              <a:off x="9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17" name="Rectangle 93"/>
            <p:cNvSpPr>
              <a:spLocks noChangeArrowheads="1"/>
            </p:cNvSpPr>
            <p:nvPr userDrawn="1"/>
          </p:nvSpPr>
          <p:spPr bwMode="auto">
            <a:xfrm>
              <a:off x="9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18" name="Rectangle 94"/>
            <p:cNvSpPr>
              <a:spLocks noChangeArrowheads="1"/>
            </p:cNvSpPr>
            <p:nvPr userDrawn="1"/>
          </p:nvSpPr>
          <p:spPr bwMode="auto">
            <a:xfrm>
              <a:off x="9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19" name="Rectangle 95"/>
            <p:cNvSpPr>
              <a:spLocks noChangeArrowheads="1"/>
            </p:cNvSpPr>
            <p:nvPr userDrawn="1"/>
          </p:nvSpPr>
          <p:spPr bwMode="auto">
            <a:xfrm>
              <a:off x="1228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0" name="Rectangle 96"/>
            <p:cNvSpPr>
              <a:spLocks noChangeArrowheads="1"/>
            </p:cNvSpPr>
            <p:nvPr userDrawn="1"/>
          </p:nvSpPr>
          <p:spPr bwMode="auto">
            <a:xfrm>
              <a:off x="1228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1" name="Rectangle 97"/>
            <p:cNvSpPr>
              <a:spLocks noChangeArrowheads="1"/>
            </p:cNvSpPr>
            <p:nvPr userDrawn="1"/>
          </p:nvSpPr>
          <p:spPr bwMode="auto">
            <a:xfrm>
              <a:off x="1228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2" name="Rectangle 98"/>
            <p:cNvSpPr>
              <a:spLocks noChangeArrowheads="1"/>
            </p:cNvSpPr>
            <p:nvPr userDrawn="1"/>
          </p:nvSpPr>
          <p:spPr bwMode="auto">
            <a:xfrm>
              <a:off x="2361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3" name="Rectangle 99"/>
            <p:cNvSpPr>
              <a:spLocks noChangeArrowheads="1"/>
            </p:cNvSpPr>
            <p:nvPr userDrawn="1"/>
          </p:nvSpPr>
          <p:spPr bwMode="auto">
            <a:xfrm>
              <a:off x="2361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4" name="Rectangle 100"/>
            <p:cNvSpPr>
              <a:spLocks noChangeArrowheads="1"/>
            </p:cNvSpPr>
            <p:nvPr userDrawn="1"/>
          </p:nvSpPr>
          <p:spPr bwMode="auto">
            <a:xfrm>
              <a:off x="2361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5" name="Rectangle 101"/>
            <p:cNvSpPr>
              <a:spLocks noChangeArrowheads="1"/>
            </p:cNvSpPr>
            <p:nvPr userDrawn="1"/>
          </p:nvSpPr>
          <p:spPr bwMode="auto">
            <a:xfrm>
              <a:off x="3493" y="960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6" name="Rectangle 102"/>
            <p:cNvSpPr>
              <a:spLocks noChangeArrowheads="1"/>
            </p:cNvSpPr>
            <p:nvPr userDrawn="1"/>
          </p:nvSpPr>
          <p:spPr bwMode="auto">
            <a:xfrm>
              <a:off x="3493" y="2063"/>
              <a:ext cx="1039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7" name="Rectangle 103"/>
            <p:cNvSpPr>
              <a:spLocks noChangeArrowheads="1"/>
            </p:cNvSpPr>
            <p:nvPr userDrawn="1"/>
          </p:nvSpPr>
          <p:spPr bwMode="auto">
            <a:xfrm>
              <a:off x="3493" y="3165"/>
              <a:ext cx="1039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8" name="Rectangle 104"/>
            <p:cNvSpPr>
              <a:spLocks noChangeArrowheads="1"/>
            </p:cNvSpPr>
            <p:nvPr userDrawn="1"/>
          </p:nvSpPr>
          <p:spPr bwMode="auto">
            <a:xfrm>
              <a:off x="4626" y="960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29" name="Rectangle 105"/>
            <p:cNvSpPr>
              <a:spLocks noChangeArrowheads="1"/>
            </p:cNvSpPr>
            <p:nvPr userDrawn="1"/>
          </p:nvSpPr>
          <p:spPr bwMode="auto">
            <a:xfrm>
              <a:off x="4626" y="2063"/>
              <a:ext cx="1038" cy="101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30" name="Rectangle 106"/>
            <p:cNvSpPr>
              <a:spLocks noChangeArrowheads="1"/>
            </p:cNvSpPr>
            <p:nvPr userDrawn="1"/>
          </p:nvSpPr>
          <p:spPr bwMode="auto">
            <a:xfrm>
              <a:off x="4626" y="3165"/>
              <a:ext cx="1038" cy="101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31" name="Rectangle 107"/>
            <p:cNvSpPr>
              <a:spLocks noChangeArrowheads="1"/>
            </p:cNvSpPr>
            <p:nvPr userDrawn="1"/>
          </p:nvSpPr>
          <p:spPr bwMode="auto">
            <a:xfrm>
              <a:off x="9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32" name="Rectangle 108"/>
            <p:cNvSpPr>
              <a:spLocks noChangeArrowheads="1"/>
            </p:cNvSpPr>
            <p:nvPr userDrawn="1"/>
          </p:nvSpPr>
          <p:spPr bwMode="auto">
            <a:xfrm>
              <a:off x="1228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33" name="Rectangle 109"/>
            <p:cNvSpPr>
              <a:spLocks noChangeArrowheads="1"/>
            </p:cNvSpPr>
            <p:nvPr userDrawn="1"/>
          </p:nvSpPr>
          <p:spPr bwMode="auto">
            <a:xfrm>
              <a:off x="2361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34" name="Rectangle 110"/>
            <p:cNvSpPr>
              <a:spLocks noChangeArrowheads="1"/>
            </p:cNvSpPr>
            <p:nvPr userDrawn="1"/>
          </p:nvSpPr>
          <p:spPr bwMode="auto">
            <a:xfrm>
              <a:off x="3493" y="16"/>
              <a:ext cx="1039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  <p:sp>
          <p:nvSpPr>
            <p:cNvPr id="1135" name="Rectangle 111"/>
            <p:cNvSpPr>
              <a:spLocks noChangeArrowheads="1"/>
            </p:cNvSpPr>
            <p:nvPr userDrawn="1"/>
          </p:nvSpPr>
          <p:spPr bwMode="auto">
            <a:xfrm>
              <a:off x="4626" y="16"/>
              <a:ext cx="1038" cy="84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1136" name="Line 112"/>
          <p:cNvSpPr>
            <a:spLocks noChangeShapeType="1"/>
          </p:cNvSpPr>
          <p:nvPr/>
        </p:nvSpPr>
        <p:spPr bwMode="auto">
          <a:xfrm>
            <a:off x="0" y="914400"/>
            <a:ext cx="9144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1137" name="Line 113"/>
          <p:cNvSpPr>
            <a:spLocks noChangeShapeType="1"/>
          </p:cNvSpPr>
          <p:nvPr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>
              <a:solidFill>
                <a:srgbClr val="000000"/>
              </a:solidFill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8077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8600" y="64008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</a:defRPr>
            </a:lvl1pPr>
          </a:lstStyle>
          <a:p>
            <a:fld id="{97D7055A-C988-4FBF-9213-7FC20374A47B}" type="datetime1">
              <a:rPr lang="ja-JP" altLang="en-US">
                <a:solidFill>
                  <a:srgbClr val="B2B2B2"/>
                </a:solidFill>
              </a:rPr>
              <a:pPr/>
              <a:t>2014/7/20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folHlink"/>
                </a:solidFill>
              </a:defRPr>
            </a:lvl1pPr>
          </a:lstStyle>
          <a:p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1905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fld id="{68341E11-FFF6-4E38-A8EE-94412A04DB09}" type="slidenum">
              <a:rPr lang="en-US" altLang="ja-JP">
                <a:solidFill>
                  <a:srgbClr val="B2B2B2"/>
                </a:solidFill>
              </a:rPr>
              <a:pPr/>
              <a:t>‹#›</a:t>
            </a:fld>
            <a:endParaRPr lang="en-US" altLang="ja-JP">
              <a:solidFill>
                <a:srgbClr val="B2B2B2"/>
              </a:solidFill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8534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0133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bg1"/>
          </a:solidFill>
          <a:latin typeface="Times New Roman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bg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5.gif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10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8.jpg"/><Relationship Id="rId7" Type="http://schemas.openxmlformats.org/officeDocument/2006/relationships/image" Target="../media/image41.jpeg"/><Relationship Id="rId12" Type="http://schemas.microsoft.com/office/2007/relationships/hdphoto" Target="../media/hdphoto4.wd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11" Type="http://schemas.openxmlformats.org/officeDocument/2006/relationships/image" Target="../media/image44.jpeg"/><Relationship Id="rId5" Type="http://schemas.openxmlformats.org/officeDocument/2006/relationships/image" Target="../media/image40.jpeg"/><Relationship Id="rId10" Type="http://schemas.openxmlformats.org/officeDocument/2006/relationships/image" Target="../media/image43.jpg"/><Relationship Id="rId4" Type="http://schemas.openxmlformats.org/officeDocument/2006/relationships/image" Target="../media/image39.jpg"/><Relationship Id="rId9" Type="http://schemas.openxmlformats.org/officeDocument/2006/relationships/image" Target="../media/image42.jp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36512" y="1700808"/>
            <a:ext cx="9180512" cy="3672408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  <a:effectLst>
            <a:outerShdw dist="35921" dir="2700000" algn="ctr" rotWithShape="0">
              <a:schemeClr val="bg2"/>
            </a:outerShdw>
          </a:effectLst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7200" dirty="0">
                <a:solidFill>
                  <a:srgbClr val="FFC000"/>
                </a:solidFill>
              </a:rPr>
              <a:t>懇親会受付中</a:t>
            </a:r>
            <a:r>
              <a:rPr lang="en-US" altLang="ja-JP" sz="7200" dirty="0">
                <a:solidFill>
                  <a:srgbClr val="FFC000"/>
                </a:solidFill>
              </a:rPr>
              <a:t/>
            </a:r>
            <a:br>
              <a:rPr lang="en-US" altLang="ja-JP" sz="7200" dirty="0">
                <a:solidFill>
                  <a:srgbClr val="FFC000"/>
                </a:solidFill>
              </a:rPr>
            </a:br>
            <a:r>
              <a:rPr lang="ja-JP" altLang="en-US" sz="7200" dirty="0">
                <a:solidFill>
                  <a:srgbClr val="FF0000"/>
                </a:solidFill>
              </a:rPr>
              <a:t>ご参加特典</a:t>
            </a:r>
            <a:r>
              <a:rPr lang="en-US" altLang="ja-JP" sz="3600" dirty="0"/>
              <a:t/>
            </a:r>
            <a:br>
              <a:rPr lang="en-US" altLang="ja-JP" sz="3600" dirty="0"/>
            </a:br>
            <a:r>
              <a:rPr lang="en-US" altLang="ja-JP" sz="5400" dirty="0" smtClean="0">
                <a:solidFill>
                  <a:srgbClr val="FF0000"/>
                </a:solidFill>
              </a:rPr>
              <a:t>1</a:t>
            </a:r>
            <a:r>
              <a:rPr lang="ja-JP" altLang="en-US" sz="5400" dirty="0">
                <a:solidFill>
                  <a:srgbClr val="FF0000"/>
                </a:solidFill>
              </a:rPr>
              <a:t>時間無料コンサルティング</a:t>
            </a:r>
            <a:r>
              <a:rPr lang="en-US" altLang="ja-JP" sz="3600" dirty="0"/>
              <a:t/>
            </a:r>
            <a:br>
              <a:rPr lang="en-US" altLang="ja-JP" sz="3600" dirty="0"/>
            </a:br>
            <a:r>
              <a:rPr lang="en-US" altLang="ja-JP" sz="3600" u="sng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ja-JP" altLang="en-US" sz="3600" u="sng" dirty="0">
                <a:solidFill>
                  <a:schemeClr val="bg2">
                    <a:lumMod val="25000"/>
                  </a:schemeClr>
                </a:solidFill>
              </a:rPr>
              <a:t>部開始前まで</a:t>
            </a:r>
            <a:r>
              <a:rPr lang="ja-JP" altLang="en-US" sz="3600" dirty="0">
                <a:solidFill>
                  <a:schemeClr val="bg2">
                    <a:lumMod val="25000"/>
                  </a:schemeClr>
                </a:solidFill>
              </a:rPr>
              <a:t>にスタッフにお声掛け下さい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少林サッカー OP - from YouTube by Offliberty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2368" y="61987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58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36512" y="1700808"/>
            <a:ext cx="9180512" cy="345638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1</a:t>
            </a:r>
            <a:r>
              <a:rPr lang="ja-JP" altLang="en-US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日</a:t>
            </a:r>
            <a:r>
              <a:rPr lang="en-US" altLang="ja-JP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15</a:t>
            </a:r>
            <a:r>
              <a:rPr lang="ja-JP" altLang="en-US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分で出来る！</a:t>
            </a:r>
            <a:endParaRPr lang="en-US" altLang="ja-JP" sz="7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  <a:p>
            <a:pPr algn="ctr"/>
            <a:r>
              <a:rPr lang="ja-JP" altLang="en-US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スゴ☆楽エントリー</a:t>
            </a:r>
            <a:endParaRPr lang="en-US" altLang="ja-JP" sz="7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-36512" y="5805264"/>
            <a:ext cx="9180512" cy="43204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ＦＸ塾ＳＴＡＲＳ講師　白土　潤</a:t>
            </a:r>
            <a:endParaRPr lang="en-US" altLang="ja-JP" sz="12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</p:txBody>
      </p:sp>
      <p:pic>
        <p:nvPicPr>
          <p:cNvPr id="3" name="少林サッカー OP - from YouTube by Offliberty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22368" y="619877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0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1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白土　潤　とは・・・？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grpSp>
        <p:nvGrpSpPr>
          <p:cNvPr id="4" name="グループ化 3"/>
          <p:cNvGrpSpPr/>
          <p:nvPr/>
        </p:nvGrpSpPr>
        <p:grpSpPr>
          <a:xfrm>
            <a:off x="179512" y="1124744"/>
            <a:ext cx="8712968" cy="5256584"/>
            <a:chOff x="179512" y="1124744"/>
            <a:chExt cx="8712968" cy="5256584"/>
          </a:xfrm>
        </p:grpSpPr>
        <p:sp>
          <p:nvSpPr>
            <p:cNvPr id="8" name="角丸四角形 7"/>
            <p:cNvSpPr/>
            <p:nvPr/>
          </p:nvSpPr>
          <p:spPr>
            <a:xfrm>
              <a:off x="179512" y="1124744"/>
              <a:ext cx="8712968" cy="5256584"/>
            </a:xfrm>
            <a:prstGeom prst="roundRect">
              <a:avLst>
                <a:gd name="adj" fmla="val 4205"/>
              </a:avLst>
            </a:prstGeom>
            <a:gradFill>
              <a:gsLst>
                <a:gs pos="50000">
                  <a:srgbClr val="FFC000"/>
                </a:gs>
                <a:gs pos="0">
                  <a:srgbClr val="FFFF00">
                    <a:lumMod val="47000"/>
                    <a:lumOff val="53000"/>
                    <a:alpha val="91000"/>
                  </a:srgbClr>
                </a:gs>
                <a:gs pos="100000">
                  <a:schemeClr val="accent6">
                    <a:lumMod val="84000"/>
                  </a:schemeClr>
                </a:gs>
              </a:gsLst>
              <a:lin ang="5400000" scaled="0"/>
            </a:gradFill>
            <a:ln w="28575" cap="flat" cmpd="sng" algn="ctr">
              <a:solidFill>
                <a:srgbClr val="FF0000"/>
              </a:solidFill>
              <a:prstDash val="solid"/>
            </a:ln>
            <a:effectLst>
              <a:glow rad="165100">
                <a:srgbClr val="FFC000">
                  <a:alpha val="54000"/>
                </a:srgbClr>
              </a:glow>
              <a:outerShdw blurRad="50800" dist="203200" dir="5400000" algn="t" rotWithShape="0">
                <a:schemeClr val="bg2">
                  <a:lumMod val="90000"/>
                  <a:alpha val="79000"/>
                </a:schemeClr>
              </a:outerShdw>
              <a:reflection blurRad="6350" stA="50000" endA="300" endPos="21000" dist="50800" dir="5400000" sy="-100000" algn="bl" rotWithShape="0"/>
            </a:effectLst>
            <a:scene3d>
              <a:camera prst="orthographicFront"/>
              <a:lightRig rig="threePt" dir="t"/>
            </a:scene3d>
            <a:sp3d>
              <a:bevelT prst="slope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ＭＳ Ｐゴシック"/>
                <a:cs typeface="+mn-cs"/>
              </a:endParaRPr>
            </a:p>
          </p:txBody>
        </p:sp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388" t="10064" r="30448" b="34096"/>
            <a:stretch/>
          </p:blipFill>
          <p:spPr>
            <a:xfrm flipH="1">
              <a:off x="6012160" y="4036174"/>
              <a:ext cx="2664296" cy="2251812"/>
            </a:xfrm>
            <a:prstGeom prst="rect">
              <a:avLst/>
            </a:prstGeom>
          </p:spPr>
        </p:pic>
      </p:grpSp>
      <p:sp>
        <p:nvSpPr>
          <p:cNvPr id="3" name="テキスト ボックス 2"/>
          <p:cNvSpPr txBox="1"/>
          <p:nvPr/>
        </p:nvSpPr>
        <p:spPr>
          <a:xfrm>
            <a:off x="251520" y="1253073"/>
            <a:ext cx="8496944" cy="4524315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2011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</a:t>
            </a: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6</a:t>
            </a:r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月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にサイントレードでＦＸを開始。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勝っていたはずのサインで資金を減らす。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2011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</a:t>
            </a: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10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月から独学でＦＸを学び始める。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スタイルが安定せず、結果が出ない時期を過ごす。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2013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</a:t>
            </a: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月からＦＸ塾ＳＴＡＲＳでコーチングを受ける。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毎月安定的に増やせるトレードスタイル</a:t>
            </a:r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確立。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現在、トレードをしながら、ＮＬＰマスターの資格を活かして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講師としても活動中。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スタイル：デイトレード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手法：ライントレード（ブレーク</a:t>
            </a:r>
            <a:r>
              <a:rPr lang="en-US" altLang="ja-JP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反発）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主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な通貨：ドル円、</a:t>
            </a:r>
            <a:r>
              <a:rPr lang="ja-JP" altLang="en-US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クロス</a:t>
            </a:r>
            <a:r>
              <a:rPr lang="ja-JP" altLang="en-US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円、ユーロドル</a:t>
            </a:r>
            <a:endParaRPr lang="en-US" altLang="ja-JP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175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グループ化 2"/>
          <p:cNvGrpSpPr/>
          <p:nvPr/>
        </p:nvGrpSpPr>
        <p:grpSpPr>
          <a:xfrm>
            <a:off x="-36512" y="-171400"/>
            <a:ext cx="9250323" cy="6251563"/>
            <a:chOff x="-36512" y="-171400"/>
            <a:chExt cx="9250323" cy="6251563"/>
          </a:xfrm>
        </p:grpSpPr>
        <p:sp>
          <p:nvSpPr>
            <p:cNvPr id="59" name="Rectangle 2"/>
            <p:cNvSpPr txBox="1">
              <a:spLocks noChangeArrowheads="1"/>
            </p:cNvSpPr>
            <p:nvPr/>
          </p:nvSpPr>
          <p:spPr bwMode="auto">
            <a:xfrm>
              <a:off x="-36512" y="-27384"/>
              <a:ext cx="9180512" cy="1042779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cene3d>
                <a:camera prst="orthographicFront"/>
                <a:lightRig rig="freezing" dir="t"/>
              </a:scene3d>
              <a:sp3d extrusionH="25400" contourW="25400" prstMaterial="plastic">
                <a:bevelT w="63500" h="63500"/>
                <a:extrusionClr>
                  <a:srgbClr val="FFC000"/>
                </a:extrusionClr>
                <a:contourClr>
                  <a:srgbClr val="FFC000"/>
                </a:contourClr>
              </a:sp3d>
            </a:bodyPr>
            <a:lstStyle>
              <a:lvl1pPr algn="r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2pPr>
              <a:lvl3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3pPr>
              <a:lvl4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4pPr>
              <a:lvl5pPr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5pPr>
              <a:lvl6pPr marL="4572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6pPr>
              <a:lvl7pPr marL="9144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7pPr>
              <a:lvl8pPr marL="13716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8pPr>
              <a:lvl9pPr marL="1828800" algn="l" rtl="0" eaLnBrk="1" fontAlgn="base" hangingPunct="1">
                <a:spcBef>
                  <a:spcPct val="0"/>
                </a:spcBef>
                <a:spcAft>
                  <a:spcPct val="0"/>
                </a:spcAft>
                <a:defRPr kumimoji="1" sz="3600" b="1">
                  <a:solidFill>
                    <a:schemeClr val="bg1"/>
                  </a:solidFill>
                  <a:latin typeface="Times New Roman" charset="0"/>
                  <a:ea typeface="ＭＳ Ｐゴシック" charset="-128"/>
                </a:defRPr>
              </a:lvl9pPr>
            </a:lstStyle>
            <a:p>
              <a:pPr algn="ctr"/>
              <a:r>
                <a:rPr lang="ja-JP" altLang="en-US" sz="5400" kern="0" dirty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まず</a:t>
              </a:r>
              <a:r>
                <a:rPr lang="ja-JP" altLang="en-US" sz="5400" kern="0" dirty="0" smtClean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は・・・</a:t>
              </a:r>
              <a:r>
                <a:rPr lang="en-US" altLang="ja-JP" sz="5400" kern="0" dirty="0" smtClean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【</a:t>
              </a:r>
              <a:r>
                <a:rPr lang="ja-JP" altLang="en-US" sz="5400" kern="0" dirty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基礎</a:t>
              </a:r>
              <a:r>
                <a:rPr lang="en-US" altLang="ja-JP" sz="5400" kern="0" dirty="0" smtClean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】</a:t>
              </a:r>
              <a:r>
                <a:rPr lang="ja-JP" altLang="en-US" sz="5400" kern="0" dirty="0" smtClean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と</a:t>
              </a:r>
              <a:r>
                <a:rPr lang="en-US" altLang="ja-JP" sz="5400" kern="0" dirty="0" smtClean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【</a:t>
              </a:r>
              <a:r>
                <a:rPr lang="ja-JP" altLang="en-US" sz="5400" kern="0" dirty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目的地</a:t>
              </a:r>
              <a:r>
                <a:rPr lang="en-US" altLang="ja-JP" sz="5400" kern="0" dirty="0" smtClean="0">
                  <a:solidFill>
                    <a:srgbClr val="FF0000"/>
                  </a:solidFill>
                  <a:effectLst>
                    <a:glow rad="254000">
                      <a:srgbClr val="FFFF00">
                        <a:alpha val="40000"/>
                      </a:srgbClr>
                    </a:glow>
                    <a:outerShdw blurRad="127000" dist="127000" dir="5400000" algn="t" rotWithShape="0">
                      <a:srgbClr val="FFC000">
                        <a:alpha val="12000"/>
                      </a:srgbClr>
                    </a:outerShdw>
                  </a:effectLst>
                  <a:latin typeface="Times New Roman" charset="0"/>
                  <a:ea typeface="ＭＳ Ｐゴシック" charset="-128"/>
                </a:rPr>
                <a:t>】</a:t>
              </a:r>
              <a:endPara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endParaRPr>
            </a:p>
          </p:txBody>
        </p:sp>
        <p:sp>
          <p:nvSpPr>
            <p:cNvPr id="60" name="角丸四角形 59"/>
            <p:cNvSpPr/>
            <p:nvPr/>
          </p:nvSpPr>
          <p:spPr>
            <a:xfrm>
              <a:off x="251520" y="935009"/>
              <a:ext cx="8496944" cy="45719"/>
            </a:xfrm>
            <a:prstGeom prst="roundRect">
              <a:avLst/>
            </a:prstGeom>
            <a:solidFill>
              <a:srgbClr val="FF0000"/>
            </a:solidFill>
            <a:ln w="12700" cap="flat" cmpd="sng" algn="ctr">
              <a:solidFill>
                <a:srgbClr val="00CC99">
                  <a:shade val="50000"/>
                </a:srgbClr>
              </a:solidFill>
              <a:prstDash val="solid"/>
            </a:ln>
            <a:effectLst>
              <a:glow rad="88900">
                <a:srgbClr val="FFFF00">
                  <a:alpha val="40000"/>
                </a:srgbClr>
              </a:glow>
            </a:effectLst>
            <a:scene3d>
              <a:camera prst="orthographicFront"/>
              <a:lightRig rig="threePt" dir="t"/>
            </a:scene3d>
            <a:sp3d contourW="12700">
              <a:bevelT prst="slope"/>
              <a:contourClr>
                <a:srgbClr val="FFC000"/>
              </a:contourClr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ＭＳ Ｐゴシック"/>
                <a:cs typeface="+mn-cs"/>
              </a:endParaRPr>
            </a:p>
          </p:txBody>
        </p:sp>
        <p:grpSp>
          <p:nvGrpSpPr>
            <p:cNvPr id="2" name="グループ化 1"/>
            <p:cNvGrpSpPr/>
            <p:nvPr/>
          </p:nvGrpSpPr>
          <p:grpSpPr>
            <a:xfrm>
              <a:off x="100272" y="-171400"/>
              <a:ext cx="9113539" cy="6251563"/>
              <a:chOff x="100272" y="-155988"/>
              <a:chExt cx="9113539" cy="6251563"/>
            </a:xfrm>
          </p:grpSpPr>
          <p:grpSp>
            <p:nvGrpSpPr>
              <p:cNvPr id="9" name="グループ化 8"/>
              <p:cNvGrpSpPr/>
              <p:nvPr/>
            </p:nvGrpSpPr>
            <p:grpSpPr>
              <a:xfrm rot="19405130">
                <a:off x="2255225" y="-155988"/>
                <a:ext cx="6958586" cy="5890703"/>
                <a:chOff x="2915816" y="1237208"/>
                <a:chExt cx="6096000" cy="4063999"/>
              </a:xfrm>
              <a:effectLst>
                <a:glow rad="228600">
                  <a:srgbClr val="FFC000">
                    <a:alpha val="40000"/>
                  </a:srgbClr>
                </a:glow>
              </a:effectLst>
              <a:scene3d>
                <a:camera prst="isometricOffAxis2Right" zoom="91000"/>
                <a:lightRig rig="threePt" dir="t">
                  <a:rot lat="0" lon="0" rev="20640000"/>
                </a:lightRig>
              </a:scene3d>
            </p:grpSpPr>
            <p:sp>
              <p:nvSpPr>
                <p:cNvPr id="52" name="フリーフォーム 51"/>
                <p:cNvSpPr/>
                <p:nvPr/>
              </p:nvSpPr>
              <p:spPr>
                <a:xfrm>
                  <a:off x="5455816" y="1237208"/>
                  <a:ext cx="1016000" cy="677333"/>
                </a:xfrm>
                <a:custGeom>
                  <a:avLst/>
                  <a:gdLst>
                    <a:gd name="connsiteX0" fmla="*/ 0 w 1016000"/>
                    <a:gd name="connsiteY0" fmla="*/ 677333 h 677333"/>
                    <a:gd name="connsiteX1" fmla="*/ 508000 w 1016000"/>
                    <a:gd name="connsiteY1" fmla="*/ 0 h 677333"/>
                    <a:gd name="connsiteX2" fmla="*/ 508000 w 1016000"/>
                    <a:gd name="connsiteY2" fmla="*/ 0 h 677333"/>
                    <a:gd name="connsiteX3" fmla="*/ 1016000 w 1016000"/>
                    <a:gd name="connsiteY3" fmla="*/ 677333 h 677333"/>
                    <a:gd name="connsiteX4" fmla="*/ 0 w 1016000"/>
                    <a:gd name="connsiteY4" fmla="*/ 677333 h 677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6000" h="677333">
                      <a:moveTo>
                        <a:pt x="0" y="677333"/>
                      </a:moveTo>
                      <a:lnTo>
                        <a:pt x="508000" y="0"/>
                      </a:lnTo>
                      <a:lnTo>
                        <a:pt x="508000" y="0"/>
                      </a:lnTo>
                      <a:lnTo>
                        <a:pt x="1016000" y="677333"/>
                      </a:lnTo>
                      <a:lnTo>
                        <a:pt x="0" y="677333"/>
                      </a:lnTo>
                      <a:close/>
                    </a:path>
                  </a:pathLst>
                </a:custGeom>
                <a:solidFill>
                  <a:srgbClr val="FFCC66"/>
                </a:solidFill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22860" tIns="22860" rIns="22860" bIns="22860" numCol="1" spcCol="1270" anchor="ctr" anchorCtr="0">
                  <a:noAutofit/>
                </a:bodyPr>
                <a:lstStyle/>
                <a:p>
                  <a:pPr algn="ctr" defTabSz="8001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180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3" name="フリーフォーム 52"/>
                <p:cNvSpPr/>
                <p:nvPr/>
              </p:nvSpPr>
              <p:spPr>
                <a:xfrm>
                  <a:off x="4947816" y="1914540"/>
                  <a:ext cx="2032000" cy="677333"/>
                </a:xfrm>
                <a:custGeom>
                  <a:avLst/>
                  <a:gdLst>
                    <a:gd name="connsiteX0" fmla="*/ 0 w 2032000"/>
                    <a:gd name="connsiteY0" fmla="*/ 677333 h 677333"/>
                    <a:gd name="connsiteX1" fmla="*/ 508000 w 2032000"/>
                    <a:gd name="connsiteY1" fmla="*/ 0 h 677333"/>
                    <a:gd name="connsiteX2" fmla="*/ 1524000 w 2032000"/>
                    <a:gd name="connsiteY2" fmla="*/ 0 h 677333"/>
                    <a:gd name="connsiteX3" fmla="*/ 2032000 w 2032000"/>
                    <a:gd name="connsiteY3" fmla="*/ 677333 h 677333"/>
                    <a:gd name="connsiteX4" fmla="*/ 0 w 2032000"/>
                    <a:gd name="connsiteY4" fmla="*/ 677333 h 677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032000" h="677333">
                      <a:moveTo>
                        <a:pt x="0" y="677333"/>
                      </a:moveTo>
                      <a:lnTo>
                        <a:pt x="508000" y="0"/>
                      </a:lnTo>
                      <a:lnTo>
                        <a:pt x="1524000" y="0"/>
                      </a:lnTo>
                      <a:lnTo>
                        <a:pt x="2032000" y="677333"/>
                      </a:lnTo>
                      <a:lnTo>
                        <a:pt x="0" y="677333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386080" tIns="30480" rIns="386080" bIns="30480" numCol="1" spcCol="1270" anchor="ctr" anchorCtr="0">
                  <a:noAutofit/>
                </a:bodyPr>
                <a:lstStyle/>
                <a:p>
                  <a:pPr algn="ctr" defTabSz="10668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36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4" name="フリーフォーム 53"/>
                <p:cNvSpPr/>
                <p:nvPr/>
              </p:nvSpPr>
              <p:spPr>
                <a:xfrm>
                  <a:off x="4439815" y="2591873"/>
                  <a:ext cx="3048000" cy="677333"/>
                </a:xfrm>
                <a:custGeom>
                  <a:avLst/>
                  <a:gdLst>
                    <a:gd name="connsiteX0" fmla="*/ 0 w 3048000"/>
                    <a:gd name="connsiteY0" fmla="*/ 677333 h 677333"/>
                    <a:gd name="connsiteX1" fmla="*/ 508000 w 3048000"/>
                    <a:gd name="connsiteY1" fmla="*/ 0 h 677333"/>
                    <a:gd name="connsiteX2" fmla="*/ 2540000 w 3048000"/>
                    <a:gd name="connsiteY2" fmla="*/ 0 h 677333"/>
                    <a:gd name="connsiteX3" fmla="*/ 3048000 w 3048000"/>
                    <a:gd name="connsiteY3" fmla="*/ 677333 h 677333"/>
                    <a:gd name="connsiteX4" fmla="*/ 0 w 3048000"/>
                    <a:gd name="connsiteY4" fmla="*/ 677333 h 677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48000" h="677333">
                      <a:moveTo>
                        <a:pt x="0" y="677333"/>
                      </a:moveTo>
                      <a:lnTo>
                        <a:pt x="508000" y="0"/>
                      </a:lnTo>
                      <a:lnTo>
                        <a:pt x="2540000" y="0"/>
                      </a:lnTo>
                      <a:lnTo>
                        <a:pt x="3048000" y="677333"/>
                      </a:lnTo>
                      <a:lnTo>
                        <a:pt x="0" y="677333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579120" tIns="45720" rIns="579120" bIns="45720" numCol="1" spcCol="1270" anchor="ctr" anchorCtr="0">
                  <a:noAutofit/>
                </a:bodyPr>
                <a:lstStyle/>
                <a:p>
                  <a:pPr algn="ctr" defTabSz="16002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4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5" name="フリーフォーム 54"/>
                <p:cNvSpPr/>
                <p:nvPr/>
              </p:nvSpPr>
              <p:spPr>
                <a:xfrm>
                  <a:off x="3931815" y="3269206"/>
                  <a:ext cx="4064000" cy="677333"/>
                </a:xfrm>
                <a:custGeom>
                  <a:avLst/>
                  <a:gdLst>
                    <a:gd name="connsiteX0" fmla="*/ 0 w 4064000"/>
                    <a:gd name="connsiteY0" fmla="*/ 677333 h 677333"/>
                    <a:gd name="connsiteX1" fmla="*/ 508000 w 4064000"/>
                    <a:gd name="connsiteY1" fmla="*/ 0 h 677333"/>
                    <a:gd name="connsiteX2" fmla="*/ 3556000 w 4064000"/>
                    <a:gd name="connsiteY2" fmla="*/ 0 h 677333"/>
                    <a:gd name="connsiteX3" fmla="*/ 4064000 w 4064000"/>
                    <a:gd name="connsiteY3" fmla="*/ 677333 h 677333"/>
                    <a:gd name="connsiteX4" fmla="*/ 0 w 4064000"/>
                    <a:gd name="connsiteY4" fmla="*/ 677333 h 677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64000" h="677333">
                      <a:moveTo>
                        <a:pt x="0" y="677333"/>
                      </a:moveTo>
                      <a:lnTo>
                        <a:pt x="508000" y="0"/>
                      </a:lnTo>
                      <a:lnTo>
                        <a:pt x="3556000" y="0"/>
                      </a:lnTo>
                      <a:lnTo>
                        <a:pt x="4064000" y="677333"/>
                      </a:lnTo>
                      <a:lnTo>
                        <a:pt x="0" y="677333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765810" tIns="54610" rIns="765810" bIns="54610" numCol="1" spcCol="1270" anchor="ctr" anchorCtr="0">
                  <a:noAutofit/>
                </a:bodyPr>
                <a:lstStyle/>
                <a:p>
                  <a:pPr algn="ctr" defTabSz="19113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43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6" name="フリーフォーム 55"/>
                <p:cNvSpPr/>
                <p:nvPr/>
              </p:nvSpPr>
              <p:spPr>
                <a:xfrm>
                  <a:off x="3423815" y="3946539"/>
                  <a:ext cx="5080000" cy="677333"/>
                </a:xfrm>
                <a:custGeom>
                  <a:avLst/>
                  <a:gdLst>
                    <a:gd name="connsiteX0" fmla="*/ 0 w 5080000"/>
                    <a:gd name="connsiteY0" fmla="*/ 677333 h 677333"/>
                    <a:gd name="connsiteX1" fmla="*/ 508000 w 5080000"/>
                    <a:gd name="connsiteY1" fmla="*/ 0 h 677333"/>
                    <a:gd name="connsiteX2" fmla="*/ 4572000 w 5080000"/>
                    <a:gd name="connsiteY2" fmla="*/ 0 h 677333"/>
                    <a:gd name="connsiteX3" fmla="*/ 5080000 w 5080000"/>
                    <a:gd name="connsiteY3" fmla="*/ 677333 h 677333"/>
                    <a:gd name="connsiteX4" fmla="*/ 0 w 5080000"/>
                    <a:gd name="connsiteY4" fmla="*/ 677333 h 677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80000" h="677333">
                      <a:moveTo>
                        <a:pt x="0" y="677333"/>
                      </a:moveTo>
                      <a:lnTo>
                        <a:pt x="508000" y="0"/>
                      </a:lnTo>
                      <a:lnTo>
                        <a:pt x="4572000" y="0"/>
                      </a:lnTo>
                      <a:lnTo>
                        <a:pt x="5080000" y="677333"/>
                      </a:lnTo>
                      <a:lnTo>
                        <a:pt x="0" y="677333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943610" tIns="54610" rIns="943610" bIns="54610" numCol="1" spcCol="1270" anchor="ctr" anchorCtr="0">
                  <a:noAutofit/>
                </a:bodyPr>
                <a:lstStyle/>
                <a:p>
                  <a:pPr algn="ctr" defTabSz="19113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48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7" name="フリーフォーム 56"/>
                <p:cNvSpPr/>
                <p:nvPr/>
              </p:nvSpPr>
              <p:spPr>
                <a:xfrm>
                  <a:off x="2915816" y="4623874"/>
                  <a:ext cx="6096000" cy="677333"/>
                </a:xfrm>
                <a:custGeom>
                  <a:avLst/>
                  <a:gdLst>
                    <a:gd name="connsiteX0" fmla="*/ 0 w 6096000"/>
                    <a:gd name="connsiteY0" fmla="*/ 677333 h 677333"/>
                    <a:gd name="connsiteX1" fmla="*/ 508000 w 6096000"/>
                    <a:gd name="connsiteY1" fmla="*/ 0 h 677333"/>
                    <a:gd name="connsiteX2" fmla="*/ 5588000 w 6096000"/>
                    <a:gd name="connsiteY2" fmla="*/ 0 h 677333"/>
                    <a:gd name="connsiteX3" fmla="*/ 6096000 w 6096000"/>
                    <a:gd name="connsiteY3" fmla="*/ 677333 h 677333"/>
                    <a:gd name="connsiteX4" fmla="*/ 0 w 6096000"/>
                    <a:gd name="connsiteY4" fmla="*/ 677333 h 677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96000" h="677333">
                      <a:moveTo>
                        <a:pt x="0" y="677333"/>
                      </a:moveTo>
                      <a:lnTo>
                        <a:pt x="508000" y="0"/>
                      </a:lnTo>
                      <a:lnTo>
                        <a:pt x="5588000" y="0"/>
                      </a:lnTo>
                      <a:lnTo>
                        <a:pt x="6096000" y="677333"/>
                      </a:lnTo>
                      <a:lnTo>
                        <a:pt x="0" y="677333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1121409" tIns="54610" rIns="1121411" bIns="54610" numCol="1" spcCol="1270" anchor="ctr" anchorCtr="0">
                  <a:noAutofit/>
                </a:bodyPr>
                <a:lstStyle/>
                <a:p>
                  <a:pPr algn="ctr" defTabSz="19113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6000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1" name="グループ化 10"/>
              <p:cNvGrpSpPr/>
              <p:nvPr/>
            </p:nvGrpSpPr>
            <p:grpSpPr>
              <a:xfrm rot="629298">
                <a:off x="366971" y="627227"/>
                <a:ext cx="7294806" cy="5468348"/>
                <a:chOff x="-816026" y="974434"/>
                <a:chExt cx="8637027" cy="5328590"/>
              </a:xfrm>
              <a:effectLst>
                <a:glow rad="228600">
                  <a:srgbClr val="FFC000">
                    <a:alpha val="40000"/>
                  </a:srgbClr>
                </a:glow>
              </a:effectLst>
              <a:scene3d>
                <a:camera prst="perspectiveLeft" zoom="91000"/>
                <a:lightRig rig="threePt" dir="t">
                  <a:rot lat="0" lon="0" rev="20640000"/>
                </a:lightRig>
              </a:scene3d>
            </p:grpSpPr>
            <p:sp>
              <p:nvSpPr>
                <p:cNvPr id="46" name="フリーフォーム 45"/>
                <p:cNvSpPr/>
                <p:nvPr/>
              </p:nvSpPr>
              <p:spPr>
                <a:xfrm>
                  <a:off x="2782734" y="974434"/>
                  <a:ext cx="1439505" cy="888098"/>
                </a:xfrm>
                <a:custGeom>
                  <a:avLst/>
                  <a:gdLst>
                    <a:gd name="connsiteX0" fmla="*/ 0 w 1439504"/>
                    <a:gd name="connsiteY0" fmla="*/ 888098 h 888098"/>
                    <a:gd name="connsiteX1" fmla="*/ 719750 w 1439504"/>
                    <a:gd name="connsiteY1" fmla="*/ 0 h 888098"/>
                    <a:gd name="connsiteX2" fmla="*/ 719754 w 1439504"/>
                    <a:gd name="connsiteY2" fmla="*/ 0 h 888098"/>
                    <a:gd name="connsiteX3" fmla="*/ 1439504 w 1439504"/>
                    <a:gd name="connsiteY3" fmla="*/ 888098 h 888098"/>
                    <a:gd name="connsiteX4" fmla="*/ 0 w 1439504"/>
                    <a:gd name="connsiteY4" fmla="*/ 888098 h 88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39504" h="888098">
                      <a:moveTo>
                        <a:pt x="0" y="888098"/>
                      </a:moveTo>
                      <a:lnTo>
                        <a:pt x="719750" y="0"/>
                      </a:lnTo>
                      <a:lnTo>
                        <a:pt x="719754" y="0"/>
                      </a:lnTo>
                      <a:lnTo>
                        <a:pt x="1439504" y="888098"/>
                      </a:lnTo>
                      <a:lnTo>
                        <a:pt x="0" y="888098"/>
                      </a:lnTo>
                      <a:close/>
                    </a:path>
                  </a:pathLst>
                </a:custGeom>
                <a:solidFill>
                  <a:srgbClr val="FFCC66"/>
                </a:solidFill>
                <a:ln>
                  <a:solidFill>
                    <a:srgbClr val="FFC000"/>
                  </a:solidFill>
                </a:ln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33020" tIns="33020" rIns="33020" bIns="33020" numCol="1" spcCol="1270" anchor="ctr" anchorCtr="0">
                  <a:noAutofit/>
                </a:bodyPr>
                <a:lstStyle/>
                <a:p>
                  <a:pPr algn="ctr" defTabSz="11557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26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7" name="フリーフォーム 46"/>
                <p:cNvSpPr/>
                <p:nvPr/>
              </p:nvSpPr>
              <p:spPr>
                <a:xfrm>
                  <a:off x="2062983" y="1862531"/>
                  <a:ext cx="2879009" cy="888098"/>
                </a:xfrm>
                <a:custGeom>
                  <a:avLst/>
                  <a:gdLst>
                    <a:gd name="connsiteX0" fmla="*/ 0 w 2879009"/>
                    <a:gd name="connsiteY0" fmla="*/ 888098 h 888098"/>
                    <a:gd name="connsiteX1" fmla="*/ 719750 w 2879009"/>
                    <a:gd name="connsiteY1" fmla="*/ 0 h 888098"/>
                    <a:gd name="connsiteX2" fmla="*/ 2159259 w 2879009"/>
                    <a:gd name="connsiteY2" fmla="*/ 0 h 888098"/>
                    <a:gd name="connsiteX3" fmla="*/ 2879009 w 2879009"/>
                    <a:gd name="connsiteY3" fmla="*/ 888098 h 888098"/>
                    <a:gd name="connsiteX4" fmla="*/ 0 w 2879009"/>
                    <a:gd name="connsiteY4" fmla="*/ 888098 h 88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879009" h="888098">
                      <a:moveTo>
                        <a:pt x="0" y="888098"/>
                      </a:moveTo>
                      <a:lnTo>
                        <a:pt x="719750" y="0"/>
                      </a:lnTo>
                      <a:lnTo>
                        <a:pt x="2159259" y="0"/>
                      </a:lnTo>
                      <a:lnTo>
                        <a:pt x="2879009" y="888098"/>
                      </a:lnTo>
                      <a:lnTo>
                        <a:pt x="0" y="888098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547006" tIns="43180" rIns="547008" bIns="43180" numCol="1" spcCol="1270" anchor="ctr" anchorCtr="0">
                  <a:noAutofit/>
                </a:bodyPr>
                <a:lstStyle/>
                <a:p>
                  <a:pPr algn="ctr" defTabSz="15113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34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" name="フリーフォーム 47"/>
                <p:cNvSpPr/>
                <p:nvPr/>
              </p:nvSpPr>
              <p:spPr>
                <a:xfrm>
                  <a:off x="1343230" y="2750630"/>
                  <a:ext cx="4318514" cy="888098"/>
                </a:xfrm>
                <a:custGeom>
                  <a:avLst/>
                  <a:gdLst>
                    <a:gd name="connsiteX0" fmla="*/ 0 w 4318513"/>
                    <a:gd name="connsiteY0" fmla="*/ 888098 h 888098"/>
                    <a:gd name="connsiteX1" fmla="*/ 719750 w 4318513"/>
                    <a:gd name="connsiteY1" fmla="*/ 0 h 888098"/>
                    <a:gd name="connsiteX2" fmla="*/ 3598763 w 4318513"/>
                    <a:gd name="connsiteY2" fmla="*/ 0 h 888098"/>
                    <a:gd name="connsiteX3" fmla="*/ 4318513 w 4318513"/>
                    <a:gd name="connsiteY3" fmla="*/ 888098 h 888098"/>
                    <a:gd name="connsiteX4" fmla="*/ 0 w 4318513"/>
                    <a:gd name="connsiteY4" fmla="*/ 888098 h 88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18513" h="888098">
                      <a:moveTo>
                        <a:pt x="0" y="888098"/>
                      </a:moveTo>
                      <a:lnTo>
                        <a:pt x="719750" y="0"/>
                      </a:lnTo>
                      <a:lnTo>
                        <a:pt x="3598763" y="0"/>
                      </a:lnTo>
                      <a:lnTo>
                        <a:pt x="4318513" y="888098"/>
                      </a:lnTo>
                      <a:lnTo>
                        <a:pt x="0" y="888098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820510" tIns="64770" rIns="820510" bIns="64770" numCol="1" spcCol="1270" anchor="ctr" anchorCtr="0">
                  <a:noAutofit/>
                </a:bodyPr>
                <a:lstStyle/>
                <a:p>
                  <a:pPr algn="ctr" defTabSz="226695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sz="510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9" name="フリーフォーム 48"/>
                <p:cNvSpPr/>
                <p:nvPr/>
              </p:nvSpPr>
              <p:spPr>
                <a:xfrm>
                  <a:off x="620196" y="3658932"/>
                  <a:ext cx="5758018" cy="888098"/>
                </a:xfrm>
                <a:custGeom>
                  <a:avLst/>
                  <a:gdLst>
                    <a:gd name="connsiteX0" fmla="*/ 0 w 5758018"/>
                    <a:gd name="connsiteY0" fmla="*/ 888098 h 888098"/>
                    <a:gd name="connsiteX1" fmla="*/ 719750 w 5758018"/>
                    <a:gd name="connsiteY1" fmla="*/ 0 h 888098"/>
                    <a:gd name="connsiteX2" fmla="*/ 5038268 w 5758018"/>
                    <a:gd name="connsiteY2" fmla="*/ 0 h 888098"/>
                    <a:gd name="connsiteX3" fmla="*/ 5758018 w 5758018"/>
                    <a:gd name="connsiteY3" fmla="*/ 888098 h 888098"/>
                    <a:gd name="connsiteX4" fmla="*/ 0 w 5758018"/>
                    <a:gd name="connsiteY4" fmla="*/ 888098 h 88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58018" h="888098">
                      <a:moveTo>
                        <a:pt x="0" y="888098"/>
                      </a:moveTo>
                      <a:lnTo>
                        <a:pt x="719750" y="0"/>
                      </a:lnTo>
                      <a:lnTo>
                        <a:pt x="5038268" y="0"/>
                      </a:lnTo>
                      <a:lnTo>
                        <a:pt x="5758018" y="888098"/>
                      </a:lnTo>
                      <a:lnTo>
                        <a:pt x="0" y="888098"/>
                      </a:lnTo>
                      <a:close/>
                    </a:path>
                  </a:pathLst>
                </a:custGeom>
                <a:solidFill>
                  <a:srgbClr val="FF9933"/>
                </a:solidFill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1078773" tIns="71120" rIns="1078774" bIns="71120" numCol="1" spcCol="1270" anchor="ctr" anchorCtr="0">
                  <a:noAutofit/>
                </a:bodyPr>
                <a:lstStyle/>
                <a:p>
                  <a:pPr algn="ctr" defTabSz="24892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US" altLang="ja-JP" dirty="0">
                    <a:solidFill>
                      <a:srgbClr val="000000"/>
                    </a:solidFill>
                  </a:endParaRPr>
                </a:p>
                <a:p>
                  <a:pPr algn="ctr" defTabSz="24892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ja-JP" altLang="en-US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0" name="フリーフォーム 49"/>
                <p:cNvSpPr/>
                <p:nvPr/>
              </p:nvSpPr>
              <p:spPr>
                <a:xfrm>
                  <a:off x="-96274" y="4526825"/>
                  <a:ext cx="7197523" cy="888098"/>
                </a:xfrm>
                <a:custGeom>
                  <a:avLst/>
                  <a:gdLst>
                    <a:gd name="connsiteX0" fmla="*/ 0 w 7197522"/>
                    <a:gd name="connsiteY0" fmla="*/ 888098 h 888098"/>
                    <a:gd name="connsiteX1" fmla="*/ 719750 w 7197522"/>
                    <a:gd name="connsiteY1" fmla="*/ 0 h 888098"/>
                    <a:gd name="connsiteX2" fmla="*/ 6477772 w 7197522"/>
                    <a:gd name="connsiteY2" fmla="*/ 0 h 888098"/>
                    <a:gd name="connsiteX3" fmla="*/ 7197522 w 7197522"/>
                    <a:gd name="connsiteY3" fmla="*/ 888098 h 888098"/>
                    <a:gd name="connsiteX4" fmla="*/ 0 w 7197522"/>
                    <a:gd name="connsiteY4" fmla="*/ 888098 h 88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197522" h="888098">
                      <a:moveTo>
                        <a:pt x="0" y="888098"/>
                      </a:moveTo>
                      <a:lnTo>
                        <a:pt x="719750" y="0"/>
                      </a:lnTo>
                      <a:lnTo>
                        <a:pt x="6477772" y="0"/>
                      </a:lnTo>
                      <a:lnTo>
                        <a:pt x="7197522" y="888098"/>
                      </a:lnTo>
                      <a:lnTo>
                        <a:pt x="0" y="888098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1330686" tIns="71120" rIns="1330687" bIns="71120" numCol="1" spcCol="1270" anchor="ctr" anchorCtr="0">
                  <a:noAutofit/>
                </a:bodyPr>
                <a:lstStyle/>
                <a:p>
                  <a:pPr algn="ctr" defTabSz="24892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US" altLang="ja-JP" sz="3200" strike="sngStrike" dirty="0">
                    <a:ln w="19050">
                      <a:solidFill>
                        <a:srgbClr val="000000">
                          <a:tint val="1000"/>
                        </a:srgbClr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50000" dist="50800" dir="7500000" algn="tl">
                        <a:srgbClr val="000000">
                          <a:shade val="5000"/>
                          <a:alpha val="35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1" name="フリーフォーム 50"/>
                <p:cNvSpPr/>
                <p:nvPr/>
              </p:nvSpPr>
              <p:spPr>
                <a:xfrm>
                  <a:off x="-816026" y="5414926"/>
                  <a:ext cx="8637027" cy="888098"/>
                </a:xfrm>
                <a:custGeom>
                  <a:avLst/>
                  <a:gdLst>
                    <a:gd name="connsiteX0" fmla="*/ 0 w 8637027"/>
                    <a:gd name="connsiteY0" fmla="*/ 888098 h 888098"/>
                    <a:gd name="connsiteX1" fmla="*/ 719750 w 8637027"/>
                    <a:gd name="connsiteY1" fmla="*/ 0 h 888098"/>
                    <a:gd name="connsiteX2" fmla="*/ 7917277 w 8637027"/>
                    <a:gd name="connsiteY2" fmla="*/ 0 h 888098"/>
                    <a:gd name="connsiteX3" fmla="*/ 8637027 w 8637027"/>
                    <a:gd name="connsiteY3" fmla="*/ 888098 h 888098"/>
                    <a:gd name="connsiteX4" fmla="*/ 0 w 8637027"/>
                    <a:gd name="connsiteY4" fmla="*/ 888098 h 888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637027" h="888098">
                      <a:moveTo>
                        <a:pt x="0" y="888098"/>
                      </a:moveTo>
                      <a:lnTo>
                        <a:pt x="719750" y="0"/>
                      </a:lnTo>
                      <a:lnTo>
                        <a:pt x="7917277" y="0"/>
                      </a:lnTo>
                      <a:lnTo>
                        <a:pt x="8637027" y="888098"/>
                      </a:lnTo>
                      <a:lnTo>
                        <a:pt x="0" y="888098"/>
                      </a:lnTo>
                      <a:close/>
                    </a:path>
                  </a:pathLst>
                </a:custGeom>
                <a:solidFill>
                  <a:srgbClr val="FF3300"/>
                </a:solidFill>
                <a:sp3d extrusionH="50600" prstMaterial="metal">
                  <a:bevelT w="101600" h="80600" prst="angle"/>
                  <a:bevelB w="80600" h="80600" prst="relaxedInset"/>
                </a:sp3d>
              </p:spPr>
              <p:style>
                <a:lnRef idx="0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1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/>
                </a:fontRef>
              </p:style>
              <p:txBody>
                <a:bodyPr spcFirstLastPara="0" vert="horz" wrap="square" lIns="1580059" tIns="68580" rIns="1580061" bIns="68580" numCol="1" spcCol="1270" anchor="ctr" anchorCtr="0">
                  <a:noAutofit/>
                </a:bodyPr>
                <a:lstStyle/>
                <a:p>
                  <a:pPr algn="ctr" defTabSz="2400300">
                    <a:lnSpc>
                      <a:spcPct val="90000"/>
                    </a:lnSpc>
                    <a:spcAft>
                      <a:spcPct val="35000"/>
                    </a:spcAft>
                  </a:pPr>
                  <a:endParaRPr lang="en-US" altLang="ja-JP" sz="5400" b="1" spc="600" dirty="0" smtClean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2" name="グループ化 11"/>
              <p:cNvGrpSpPr/>
              <p:nvPr/>
            </p:nvGrpSpPr>
            <p:grpSpPr>
              <a:xfrm>
                <a:off x="100272" y="1001613"/>
                <a:ext cx="9018178" cy="4764269"/>
                <a:chOff x="100272" y="1001613"/>
                <a:chExt cx="9018178" cy="4764269"/>
              </a:xfrm>
            </p:grpSpPr>
            <p:cxnSp>
              <p:nvCxnSpPr>
                <p:cNvPr id="13" name="直線コネクタ 12"/>
                <p:cNvCxnSpPr/>
                <p:nvPr/>
              </p:nvCxnSpPr>
              <p:spPr>
                <a:xfrm flipH="1">
                  <a:off x="3859904" y="2523304"/>
                  <a:ext cx="237421" cy="1656184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線コネクタ 13"/>
                <p:cNvCxnSpPr/>
                <p:nvPr/>
              </p:nvCxnSpPr>
              <p:spPr>
                <a:xfrm flipV="1">
                  <a:off x="4664685" y="3517106"/>
                  <a:ext cx="133677" cy="830552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" name="グループ化 14"/>
                <p:cNvGrpSpPr/>
                <p:nvPr/>
              </p:nvGrpSpPr>
              <p:grpSpPr>
                <a:xfrm>
                  <a:off x="100272" y="1001613"/>
                  <a:ext cx="3679640" cy="617543"/>
                  <a:chOff x="-2679304" y="1336347"/>
                  <a:chExt cx="4831197" cy="810806"/>
                </a:xfrm>
              </p:grpSpPr>
              <p:sp>
                <p:nvSpPr>
                  <p:cNvPr id="44" name="角丸四角形 43"/>
                  <p:cNvSpPr/>
                  <p:nvPr/>
                </p:nvSpPr>
                <p:spPr>
                  <a:xfrm>
                    <a:off x="-2679304" y="1336347"/>
                    <a:ext cx="4831197" cy="810806"/>
                  </a:xfrm>
                  <a:prstGeom prst="roundRect">
                    <a:avLst/>
                  </a:prstGeom>
                  <a:effectLst>
                    <a:glow rad="228600">
                      <a:srgbClr val="FF9900">
                        <a:alpha val="40000"/>
                      </a:srgbClr>
                    </a:glow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/>
                    <a:lightRig rig="threePt" dir="t"/>
                  </a:scene3d>
                  <a:sp3d>
                    <a:bevelT prst="slope"/>
                  </a:sp3d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ja-JP" altLang="en-US">
                      <a:solidFill>
                        <a:srgbClr val="FF9900"/>
                      </a:solidFill>
                    </a:endParaRPr>
                  </a:p>
                </p:txBody>
              </p:sp>
              <p:sp>
                <p:nvSpPr>
                  <p:cNvPr id="45" name="正方形/長方形 44"/>
                  <p:cNvSpPr/>
                  <p:nvPr/>
                </p:nvSpPr>
                <p:spPr>
                  <a:xfrm>
                    <a:off x="-2268904" y="1365727"/>
                    <a:ext cx="4040874" cy="686964"/>
                  </a:xfrm>
                  <a:prstGeom prst="rect">
                    <a:avLst/>
                  </a:prstGeom>
                  <a:noFill/>
                </p:spPr>
                <p:txBody>
                  <a:bodyPr wrap="square" lIns="91440" tIns="45720" rIns="91440" bIns="45720">
                    <a:spAutoFit/>
                  </a:bodyPr>
                  <a:lstStyle/>
                  <a:p>
                    <a:pPr algn="ctr"/>
                    <a:r>
                      <a:rPr lang="ja-JP" altLang="en-US" sz="2800" b="1" dirty="0" smtClean="0">
                        <a:ln w="1905"/>
                        <a:solidFill>
                          <a:srgbClr val="FF99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a:t>第一層　夢・目的</a:t>
                    </a:r>
                    <a:endParaRPr lang="ja-JP" altLang="en-US" sz="2800" b="1" dirty="0">
                      <a:ln w="1905"/>
                      <a:solidFill>
                        <a:srgbClr val="FF99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cxnSp>
              <p:nvCxnSpPr>
                <p:cNvPr id="16" name="直線コネクタ 15"/>
                <p:cNvCxnSpPr/>
                <p:nvPr/>
              </p:nvCxnSpPr>
              <p:spPr>
                <a:xfrm flipH="1">
                  <a:off x="3053951" y="3243300"/>
                  <a:ext cx="128864" cy="798952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線コネクタ 16"/>
                <p:cNvCxnSpPr/>
                <p:nvPr/>
              </p:nvCxnSpPr>
              <p:spPr>
                <a:xfrm flipH="1">
                  <a:off x="2415236" y="3921131"/>
                  <a:ext cx="128864" cy="798952"/>
                </a:xfrm>
                <a:prstGeom prst="line">
                  <a:avLst/>
                </a:prstGeom>
                <a:ln w="38100">
                  <a:solidFill>
                    <a:srgbClr val="C467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コネクタ 17"/>
                <p:cNvCxnSpPr/>
                <p:nvPr/>
              </p:nvCxnSpPr>
              <p:spPr>
                <a:xfrm flipH="1">
                  <a:off x="3278134" y="4104858"/>
                  <a:ext cx="128864" cy="798952"/>
                </a:xfrm>
                <a:prstGeom prst="line">
                  <a:avLst/>
                </a:prstGeom>
                <a:ln w="38100">
                  <a:solidFill>
                    <a:srgbClr val="C467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コネクタ 18"/>
                <p:cNvCxnSpPr/>
                <p:nvPr/>
              </p:nvCxnSpPr>
              <p:spPr>
                <a:xfrm flipH="1">
                  <a:off x="4147776" y="4280366"/>
                  <a:ext cx="128864" cy="798952"/>
                </a:xfrm>
                <a:prstGeom prst="line">
                  <a:avLst/>
                </a:prstGeom>
                <a:ln w="38100">
                  <a:solidFill>
                    <a:srgbClr val="C467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コネクタ 19"/>
                <p:cNvCxnSpPr/>
                <p:nvPr/>
              </p:nvCxnSpPr>
              <p:spPr>
                <a:xfrm flipH="1">
                  <a:off x="5078597" y="4473447"/>
                  <a:ext cx="128864" cy="798952"/>
                </a:xfrm>
                <a:prstGeom prst="line">
                  <a:avLst/>
                </a:prstGeom>
                <a:ln w="38100">
                  <a:solidFill>
                    <a:srgbClr val="C467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正方形/長方形 20"/>
                <p:cNvSpPr/>
                <p:nvPr/>
              </p:nvSpPr>
              <p:spPr>
                <a:xfrm rot="355755">
                  <a:off x="3712134" y="1956907"/>
                  <a:ext cx="1054264" cy="420597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6729"/>
                    </a:avLst>
                  </a:prstTxWarp>
                  <a:spAutoFit/>
                </a:bodyPr>
                <a:lstStyle/>
                <a:p>
                  <a:r>
                    <a:rPr lang="ja-JP" altLang="en-US" sz="2800" b="1" dirty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トレード</a:t>
                  </a:r>
                </a:p>
              </p:txBody>
            </p:sp>
            <p:sp>
              <p:nvSpPr>
                <p:cNvPr id="22" name="正方形/長方形 21"/>
                <p:cNvSpPr/>
                <p:nvPr/>
              </p:nvSpPr>
              <p:spPr>
                <a:xfrm rot="358794">
                  <a:off x="3057500" y="2628703"/>
                  <a:ext cx="866947" cy="517801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6729"/>
                    </a:avLst>
                  </a:prstTxWarp>
                  <a:spAutoFit/>
                </a:bodyPr>
                <a:lstStyle/>
                <a:p>
                  <a:r>
                    <a:rPr lang="ja-JP" altLang="en-US" sz="2800" b="1" dirty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エントリー</a:t>
                  </a:r>
                  <a:r>
                    <a:rPr lang="en-US" altLang="ja-JP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/>
                  </a:r>
                  <a:br>
                    <a:rPr lang="en-US" altLang="ja-JP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</a:br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　ポイント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3" name="正方形/長方形 22"/>
                <p:cNvSpPr/>
                <p:nvPr/>
              </p:nvSpPr>
              <p:spPr>
                <a:xfrm rot="296201">
                  <a:off x="4124859" y="2754084"/>
                  <a:ext cx="1014849" cy="603372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6729"/>
                    </a:avLst>
                  </a:prstTxWarp>
                  <a:spAutoFit/>
                </a:bodyPr>
                <a:lstStyle/>
                <a:p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クローズ</a:t>
                  </a:r>
                  <a:r>
                    <a:rPr lang="en-US" altLang="ja-JP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/>
                  </a:r>
                  <a:br>
                    <a:rPr lang="en-US" altLang="ja-JP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</a:br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　ポイント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4" name="正方形/長方形 23"/>
                <p:cNvSpPr/>
                <p:nvPr/>
              </p:nvSpPr>
              <p:spPr>
                <a:xfrm rot="524619">
                  <a:off x="2313676" y="3430509"/>
                  <a:ext cx="763767" cy="320171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92078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ライン分析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5" name="正方形/長方形 24"/>
                <p:cNvSpPr/>
                <p:nvPr/>
              </p:nvSpPr>
              <p:spPr>
                <a:xfrm rot="475800">
                  <a:off x="3157375" y="3580117"/>
                  <a:ext cx="707648" cy="343973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5388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抵抗帯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6" name="正方形/長方形 25"/>
                <p:cNvSpPr/>
                <p:nvPr/>
              </p:nvSpPr>
              <p:spPr>
                <a:xfrm rot="482043">
                  <a:off x="3972685" y="3702693"/>
                  <a:ext cx="733118" cy="389557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5388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トレンド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7" name="正方形/長方形 26"/>
                <p:cNvSpPr/>
                <p:nvPr/>
              </p:nvSpPr>
              <p:spPr>
                <a:xfrm rot="358794">
                  <a:off x="4791603" y="3733595"/>
                  <a:ext cx="803618" cy="603372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6729"/>
                    </a:avLst>
                  </a:prstTxWarp>
                  <a:spAutoFit/>
                </a:bodyPr>
                <a:lstStyle/>
                <a:p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チャート</a:t>
                  </a:r>
                  <a:r>
                    <a:rPr lang="en-US" altLang="ja-JP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/>
                  </a:r>
                  <a:br>
                    <a:rPr lang="en-US" altLang="ja-JP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</a:br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000000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　パターン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8" name="正方形/長方形 27"/>
                <p:cNvSpPr/>
                <p:nvPr/>
              </p:nvSpPr>
              <p:spPr>
                <a:xfrm rot="375791">
                  <a:off x="1790972" y="4122539"/>
                  <a:ext cx="533731" cy="364739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3506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損切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9" name="正方形/長方形 28"/>
                <p:cNvSpPr/>
                <p:nvPr/>
              </p:nvSpPr>
              <p:spPr>
                <a:xfrm rot="454584">
                  <a:off x="2527202" y="4266344"/>
                  <a:ext cx="763767" cy="364739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5388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資金管理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0" name="正方形/長方形 29"/>
                <p:cNvSpPr/>
                <p:nvPr/>
              </p:nvSpPr>
              <p:spPr>
                <a:xfrm rot="541295">
                  <a:off x="3366904" y="4424740"/>
                  <a:ext cx="763767" cy="355984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5388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>
                      <a:ln w="1270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スタイル</a:t>
                  </a:r>
                </a:p>
              </p:txBody>
            </p:sp>
            <p:sp>
              <p:nvSpPr>
                <p:cNvPr id="31" name="正方形/長方形 30"/>
                <p:cNvSpPr/>
                <p:nvPr/>
              </p:nvSpPr>
              <p:spPr>
                <a:xfrm rot="591523">
                  <a:off x="4234163" y="4597771"/>
                  <a:ext cx="884169" cy="364739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91813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>
                      <a:ln w="1270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メンタル</a:t>
                  </a:r>
                </a:p>
              </p:txBody>
            </p:sp>
            <p:sp>
              <p:nvSpPr>
                <p:cNvPr id="32" name="正方形/長方形 31"/>
                <p:cNvSpPr/>
                <p:nvPr/>
              </p:nvSpPr>
              <p:spPr>
                <a:xfrm rot="531126">
                  <a:off x="5264128" y="4798163"/>
                  <a:ext cx="638714" cy="401520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anchor="ctr" anchorCtr="0">
                  <a:prstTxWarp prst="textCascadeDown">
                    <a:avLst>
                      <a:gd name="adj" fmla="val 87771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2700">
                        <a:noFill/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41275" dist="20320" dir="1800000" algn="tl" rotWithShape="0">
                          <a:srgbClr val="000000">
                            <a:alpha val="40000"/>
                          </a:srgbClr>
                        </a:outerShdw>
                      </a:effectLst>
                    </a:rPr>
                    <a:t>基礎</a:t>
                  </a:r>
                  <a:endParaRPr lang="ja-JP" altLang="en-US" sz="28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3" name="正方形/長方形 32"/>
                <p:cNvSpPr/>
                <p:nvPr/>
              </p:nvSpPr>
              <p:spPr>
                <a:xfrm rot="632801">
                  <a:off x="2583197" y="5137791"/>
                  <a:ext cx="1999543" cy="628091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prstTxWarp prst="textCascadeDown">
                    <a:avLst>
                      <a:gd name="adj" fmla="val 88303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5400" b="1" dirty="0" smtClean="0">
                      <a:ln w="18000">
                        <a:noFill/>
                        <a:prstDash val="solid"/>
                        <a:miter lim="800000"/>
                      </a:ln>
                      <a:solidFill>
                        <a:srgbClr val="FFFFFF"/>
                      </a:solidFill>
                      <a:effectLst>
                        <a:outerShdw blurRad="25500" dist="23000" dir="7020000" algn="tl">
                          <a:srgbClr val="000000">
                            <a:alpha val="50000"/>
                          </a:srgbClr>
                        </a:outerShdw>
                      </a:effectLst>
                      <a:latin typeface="ＭＳ Ｐゴシック"/>
                      <a:ea typeface="ＭＳ Ｐゴシック"/>
                    </a:rPr>
                    <a:t>メンタル</a:t>
                  </a:r>
                  <a:endParaRPr lang="ja-JP" altLang="en-US" sz="5400" b="1" dirty="0">
                    <a:ln w="18000">
                      <a:noFill/>
                      <a:prstDash val="solid"/>
                      <a:miter lim="800000"/>
                    </a:ln>
                    <a:solidFill>
                      <a:srgbClr val="FFFFFF"/>
                    </a:solidFill>
                    <a:effectLst>
                      <a:outerShdw blurRad="25500" dist="23000" dir="7020000" algn="tl">
                        <a:srgbClr val="000000">
                          <a:alpha val="50000"/>
                        </a:srgbClr>
                      </a:outerShdw>
                    </a:effectLst>
                    <a:latin typeface="ＭＳ Ｐゴシック"/>
                    <a:ea typeface="ＭＳ Ｐゴシック"/>
                  </a:endParaRPr>
                </a:p>
              </p:txBody>
            </p:sp>
            <p:sp>
              <p:nvSpPr>
                <p:cNvPr id="34" name="線吹き出し 2 33"/>
                <p:cNvSpPr/>
                <p:nvPr/>
              </p:nvSpPr>
              <p:spPr>
                <a:xfrm>
                  <a:off x="7596336" y="2455262"/>
                  <a:ext cx="882099" cy="473781"/>
                </a:xfrm>
                <a:prstGeom prst="callout2">
                  <a:avLst>
                    <a:gd name="adj1" fmla="val 49494"/>
                    <a:gd name="adj2" fmla="val -1422"/>
                    <a:gd name="adj3" fmla="val 49493"/>
                    <a:gd name="adj4" fmla="val -40181"/>
                    <a:gd name="adj5" fmla="val 86489"/>
                    <a:gd name="adj6" fmla="val -46667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400" b="1" i="1" dirty="0" smtClean="0">
                      <a:solidFill>
                        <a:srgbClr val="FF0000"/>
                      </a:solidFill>
                    </a:rPr>
                    <a:t>メンタル</a:t>
                  </a:r>
                  <a:endParaRPr lang="en-US" altLang="ja-JP" sz="1400" b="1" i="1" dirty="0" smtClean="0">
                    <a:solidFill>
                      <a:srgbClr val="FF0000"/>
                    </a:solidFill>
                  </a:endParaRPr>
                </a:p>
                <a:p>
                  <a:pPr algn="ctr"/>
                  <a:r>
                    <a:rPr lang="ja-JP" altLang="en-US" sz="1400" b="1" i="1" dirty="0" smtClean="0">
                      <a:solidFill>
                        <a:srgbClr val="FF0000"/>
                      </a:solidFill>
                    </a:rPr>
                    <a:t>ルール</a:t>
                  </a:r>
                  <a:endParaRPr lang="ja-JP" altLang="en-US" sz="1400" b="1" i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5" name="線吹き出し 2 34"/>
                <p:cNvSpPr/>
                <p:nvPr/>
              </p:nvSpPr>
              <p:spPr>
                <a:xfrm>
                  <a:off x="7020272" y="1966567"/>
                  <a:ext cx="790420" cy="488696"/>
                </a:xfrm>
                <a:prstGeom prst="callout2">
                  <a:avLst>
                    <a:gd name="adj1" fmla="val 49438"/>
                    <a:gd name="adj2" fmla="val 664"/>
                    <a:gd name="adj3" fmla="val 49438"/>
                    <a:gd name="adj4" fmla="val -49687"/>
                    <a:gd name="adj5" fmla="val 85253"/>
                    <a:gd name="adj6" fmla="val -57557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400" b="1" i="1" dirty="0" smtClean="0">
                      <a:solidFill>
                        <a:srgbClr val="FF0000"/>
                      </a:solidFill>
                    </a:rPr>
                    <a:t>分析</a:t>
                  </a:r>
                  <a:endParaRPr lang="en-US" altLang="ja-JP" sz="800" b="1" i="1" dirty="0" smtClean="0">
                    <a:solidFill>
                      <a:srgbClr val="FF0000"/>
                    </a:solidFill>
                  </a:endParaRPr>
                </a:p>
                <a:p>
                  <a:pPr algn="ctr"/>
                  <a:r>
                    <a:rPr lang="ja-JP" altLang="en-US" sz="1400" b="1" i="1" dirty="0" smtClean="0">
                      <a:solidFill>
                        <a:srgbClr val="FF0000"/>
                      </a:solidFill>
                    </a:rPr>
                    <a:t>抵抗帯</a:t>
                  </a:r>
                  <a:endParaRPr lang="ja-JP" altLang="en-US" sz="1400" b="1" i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6" name="線吹き出し 2 35"/>
                <p:cNvSpPr/>
                <p:nvPr/>
              </p:nvSpPr>
              <p:spPr>
                <a:xfrm>
                  <a:off x="6412449" y="1653842"/>
                  <a:ext cx="831155" cy="296793"/>
                </a:xfrm>
                <a:prstGeom prst="callout2">
                  <a:avLst>
                    <a:gd name="adj1" fmla="val 51413"/>
                    <a:gd name="adj2" fmla="val -3271"/>
                    <a:gd name="adj3" fmla="val 51412"/>
                    <a:gd name="adj4" fmla="val -43400"/>
                    <a:gd name="adj5" fmla="val 111394"/>
                    <a:gd name="adj6" fmla="val -49760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400" b="1" i="1" dirty="0" smtClean="0">
                      <a:solidFill>
                        <a:srgbClr val="FF0000"/>
                      </a:solidFill>
                    </a:rPr>
                    <a:t>イメージ</a:t>
                  </a:r>
                  <a:endParaRPr lang="ja-JP" altLang="en-US" sz="1400" b="1" i="1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37" name="線吹き出し 2 36"/>
                <p:cNvSpPr/>
                <p:nvPr/>
              </p:nvSpPr>
              <p:spPr>
                <a:xfrm>
                  <a:off x="5904148" y="1270324"/>
                  <a:ext cx="756084" cy="347065"/>
                </a:xfrm>
                <a:prstGeom prst="callout2">
                  <a:avLst>
                    <a:gd name="adj1" fmla="val 46278"/>
                    <a:gd name="adj2" fmla="val -2286"/>
                    <a:gd name="adj3" fmla="val 46277"/>
                    <a:gd name="adj4" fmla="val -33990"/>
                    <a:gd name="adj5" fmla="val 104983"/>
                    <a:gd name="adj6" fmla="val -42619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400" b="1" i="1" dirty="0">
                      <a:solidFill>
                        <a:srgbClr val="FF0000"/>
                      </a:solidFill>
                    </a:rPr>
                    <a:t>トレード</a:t>
                  </a:r>
                </a:p>
              </p:txBody>
            </p:sp>
            <p:sp>
              <p:nvSpPr>
                <p:cNvPr id="38" name="正方形/長方形 37"/>
                <p:cNvSpPr/>
                <p:nvPr/>
              </p:nvSpPr>
              <p:spPr>
                <a:xfrm rot="19258494">
                  <a:off x="7053749" y="3910200"/>
                  <a:ext cx="785306" cy="1009652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prstTxWarp prst="textSlantUp">
                    <a:avLst>
                      <a:gd name="adj" fmla="val 44754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5400" b="1" dirty="0">
                      <a:solidFill>
                        <a:srgbClr val="FFFFFF"/>
                      </a:solidFill>
                    </a:rPr>
                    <a:t>第６層</a:t>
                  </a:r>
                  <a:endParaRPr lang="ja-JP" altLang="en-US" sz="54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39" name="正方形/長方形 38"/>
                <p:cNvSpPr/>
                <p:nvPr/>
              </p:nvSpPr>
              <p:spPr>
                <a:xfrm rot="19400083">
                  <a:off x="6564508" y="3269608"/>
                  <a:ext cx="723691" cy="1009652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prstTxWarp prst="textSlantUp">
                    <a:avLst>
                      <a:gd name="adj" fmla="val 47350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5400" b="1" dirty="0" smtClean="0">
                      <a:solidFill>
                        <a:srgbClr val="FFFFFF"/>
                      </a:solidFill>
                    </a:rPr>
                    <a:t>第５層</a:t>
                  </a:r>
                  <a:endParaRPr lang="ja-JP" altLang="en-US" sz="54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0" name="正方形/長方形 39"/>
                <p:cNvSpPr/>
                <p:nvPr/>
              </p:nvSpPr>
              <p:spPr>
                <a:xfrm rot="19400083">
                  <a:off x="6042675" y="2694125"/>
                  <a:ext cx="666283" cy="92681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prstTxWarp prst="textSlantUp">
                    <a:avLst>
                      <a:gd name="adj" fmla="val 47350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5400" b="1" dirty="0" smtClean="0">
                      <a:solidFill>
                        <a:srgbClr val="000000"/>
                      </a:solidFill>
                    </a:rPr>
                    <a:t>第４層</a:t>
                  </a:r>
                  <a:endParaRPr lang="ja-JP" altLang="en-US" sz="54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1" name="正方形/長方形 40"/>
                <p:cNvSpPr/>
                <p:nvPr/>
              </p:nvSpPr>
              <p:spPr>
                <a:xfrm rot="19400083">
                  <a:off x="5615177" y="2145610"/>
                  <a:ext cx="528880" cy="755387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prstTxWarp prst="textSlantUp">
                    <a:avLst>
                      <a:gd name="adj" fmla="val 47350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5400" b="1" dirty="0" smtClean="0">
                      <a:solidFill>
                        <a:srgbClr val="000000"/>
                      </a:solidFill>
                    </a:rPr>
                    <a:t>第３層</a:t>
                  </a:r>
                  <a:endParaRPr lang="ja-JP" altLang="en-US" sz="54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2" name="正方形/長方形 41"/>
                <p:cNvSpPr/>
                <p:nvPr/>
              </p:nvSpPr>
              <p:spPr>
                <a:xfrm rot="19400083">
                  <a:off x="5121901" y="1527344"/>
                  <a:ext cx="443266" cy="690029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>
                  <a:prstTxWarp prst="textSlantUp">
                    <a:avLst>
                      <a:gd name="adj" fmla="val 47350"/>
                    </a:avLst>
                  </a:prstTxWarp>
                  <a:spAutoFit/>
                </a:bodyPr>
                <a:lstStyle/>
                <a:p>
                  <a:pPr algn="ctr"/>
                  <a:r>
                    <a:rPr lang="ja-JP" altLang="en-US" sz="5400" b="1" dirty="0" smtClean="0">
                      <a:solidFill>
                        <a:srgbClr val="000000"/>
                      </a:solidFill>
                    </a:rPr>
                    <a:t>第２層</a:t>
                  </a:r>
                  <a:endParaRPr lang="ja-JP" altLang="en-US" sz="54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43" name="線吹き出し 2 42"/>
                <p:cNvSpPr/>
                <p:nvPr/>
              </p:nvSpPr>
              <p:spPr>
                <a:xfrm>
                  <a:off x="8035311" y="2968028"/>
                  <a:ext cx="1083139" cy="330983"/>
                </a:xfrm>
                <a:prstGeom prst="callout2">
                  <a:avLst>
                    <a:gd name="adj1" fmla="val 49494"/>
                    <a:gd name="adj2" fmla="val 57"/>
                    <a:gd name="adj3" fmla="val 49493"/>
                    <a:gd name="adj4" fmla="val -20554"/>
                    <a:gd name="adj5" fmla="val 101716"/>
                    <a:gd name="adj6" fmla="val -25919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3">
                  <a:schemeClr val="lt1"/>
                </a:lnRef>
                <a:fillRef idx="1">
                  <a:schemeClr val="accent4"/>
                </a:fillRef>
                <a:effectRef idx="1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600" b="1" i="1" dirty="0" smtClean="0">
                      <a:solidFill>
                        <a:srgbClr val="FF0000"/>
                      </a:solidFill>
                    </a:rPr>
                    <a:t>自分自身</a:t>
                  </a:r>
                  <a:endParaRPr lang="ja-JP" altLang="en-US" sz="1600" b="1" i="1" dirty="0">
                    <a:solidFill>
                      <a:srgbClr val="FF0000"/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1837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127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あなた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は本当にＦＸで・・・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12776"/>
            <a:ext cx="8496944" cy="1200329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勝ちたいですか</a:t>
            </a:r>
            <a:r>
              <a:rPr lang="en-US" altLang="ja-JP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!!?</a:t>
            </a: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331236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068960"/>
            <a:ext cx="8640960" cy="301621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だったら、今日のセミナー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本気で吸収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して下さい！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質問しまくって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下さい！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来週から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勝ちまくって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下さい！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9740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7"/>
            <a:ext cx="8496944" cy="100811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5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分間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のワーク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12774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何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の為にＦＸをやってますか？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251520" y="2828226"/>
            <a:ext cx="8496944" cy="100811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1520" y="2900233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誰の為にＦＸをやってますか？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4293096"/>
            <a:ext cx="8496944" cy="100811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4365103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その為に幾ら稼ぎたいですか？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433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9" grpId="0" animBg="1"/>
      <p:bldP spid="20" grpId="0" build="p"/>
      <p:bldP spid="21" grpId="0" animBg="1"/>
      <p:bldP spid="2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4166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ちょっと考えてみて下さい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あなた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の目標額を稼ぐために、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月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に何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pips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必要ですか？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018136"/>
            <a:ext cx="8496944" cy="177785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041664"/>
            <a:ext cx="8640960" cy="175432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その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pips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は、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現実的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に達成可能ですか？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251520" y="5013176"/>
            <a:ext cx="8496944" cy="143930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1520" y="5036704"/>
            <a:ext cx="8640960" cy="1415772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達成する為のコツ：</a:t>
            </a:r>
            <a:endParaRPr lang="en-US" altLang="ja-JP" sz="3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レバレッジ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を上手く使う！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528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  <p:bldP spid="19" grpId="0" animBg="1"/>
      <p:bldP spid="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4166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①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資金のレバレッジ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シュミレーション：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週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30pips</a:t>
            </a:r>
          </a:p>
        </p:txBody>
      </p:sp>
      <p:sp>
        <p:nvSpPr>
          <p:cNvPr id="17" name="角丸四角形 16"/>
          <p:cNvSpPr/>
          <p:nvPr/>
        </p:nvSpPr>
        <p:spPr>
          <a:xfrm>
            <a:off x="251520" y="3018136"/>
            <a:ext cx="8496944" cy="177785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041664"/>
            <a:ext cx="8640960" cy="175432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レバレッジ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20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倍なら、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月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に約</a:t>
            </a:r>
            <a:r>
              <a:rPr lang="en-US" altLang="ja-JP" sz="6000" b="1" i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％資金を増やせる！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79512" y="5036983"/>
            <a:ext cx="8640960" cy="1200329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⇒大きく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pips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を取らなくても、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レバレッジ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を使ってしっかりと資金を増やす事が出来る！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31640" y="2021939"/>
            <a:ext cx="6840760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　月に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120pips</a:t>
            </a:r>
          </a:p>
        </p:txBody>
      </p:sp>
    </p:spTree>
    <p:extLst>
      <p:ext uri="{BB962C8B-B14F-4D97-AF65-F5344CB8AC3E}">
        <p14:creationId xmlns:p14="http://schemas.microsoft.com/office/powerpoint/2010/main" val="277898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  <p:bldP spid="20" grpId="0" build="p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4166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②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複利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のレバレッジ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75432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月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25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％資金が増える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か月で資金は</a:t>
            </a:r>
            <a:r>
              <a:rPr lang="ja-JP" altLang="en-US" sz="6000" b="1" i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２倍 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になる！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018136"/>
            <a:ext cx="8496944" cy="177785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041664"/>
            <a:ext cx="8640960" cy="175432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か月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で資金が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倍なら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年で資金は</a:t>
            </a:r>
            <a:r>
              <a:rPr lang="ja-JP" altLang="en-US" sz="6000" b="1" i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８倍 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になる！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8" name="図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9" name="図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0" name="図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8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2" name="図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253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3" name="図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0498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4" name="図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5301208"/>
            <a:ext cx="936104" cy="755650"/>
          </a:xfrm>
          <a:prstGeom prst="rect">
            <a:avLst/>
          </a:prstGeom>
          <a:effectLst>
            <a:glow rad="139700">
              <a:srgbClr val="FFC000">
                <a:alpha val="40000"/>
              </a:srgbClr>
            </a:glow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112687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820833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１年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で８倍という事は・・・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30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年後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240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</a:t>
            </a:r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（月収：</a:t>
            </a:r>
            <a:r>
              <a:rPr lang="en-US" altLang="ja-JP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60</a:t>
            </a:r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万円）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8" name="角丸四角形 27"/>
          <p:cNvSpPr/>
          <p:nvPr/>
        </p:nvSpPr>
        <p:spPr>
          <a:xfrm>
            <a:off x="251520" y="2232161"/>
            <a:ext cx="8496944" cy="820833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251520" y="2276872"/>
            <a:ext cx="8496944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30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万円⇒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年後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1920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</a:t>
            </a:r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（月収：</a:t>
            </a:r>
            <a:r>
              <a:rPr lang="en-US" altLang="ja-JP" sz="2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480</a:t>
            </a:r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万円）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30" name="角丸四角形 29"/>
          <p:cNvSpPr/>
          <p:nvPr/>
        </p:nvSpPr>
        <p:spPr>
          <a:xfrm>
            <a:off x="251520" y="3281217"/>
            <a:ext cx="8496944" cy="820833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51520" y="3325928"/>
            <a:ext cx="8640960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30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万円⇒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3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年後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億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6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千万円</a:t>
            </a:r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（月収：</a:t>
            </a:r>
            <a:r>
              <a:rPr lang="en-US" altLang="ja-JP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2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千万円）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pic>
        <p:nvPicPr>
          <p:cNvPr id="33" name="Picture 10" descr="http://www.mmc.co.jp/gold/knowledge/img/img01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7" t="4233" r="19186" b="21917"/>
          <a:stretch/>
        </p:blipFill>
        <p:spPr bwMode="auto">
          <a:xfrm>
            <a:off x="5371678" y="4621137"/>
            <a:ext cx="3304778" cy="168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2" descr="https://encrypted-tbn1.gstatic.com/images?q=tbn:ANd9GcS-2K3z-npXWl_y9I2crb9-1tPAzQgoTK3_-tNPKYD89UD8c5E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3254" y="4650803"/>
            <a:ext cx="2526818" cy="152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7" t="2608" r="13036" b="3065"/>
          <a:stretch/>
        </p:blipFill>
        <p:spPr>
          <a:xfrm>
            <a:off x="395536" y="4650803"/>
            <a:ext cx="1944216" cy="152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975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28" grpId="0" animBg="1"/>
      <p:bldP spid="29" grpId="0" build="p"/>
      <p:bldP spid="30" grpId="0" animBg="1"/>
      <p:bldP spid="3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4166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ＦＸ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でガッツリ稼ぐコツ・・・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レバレッジ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を上手に使いながら、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コツコツ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pips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を獲得して行く。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pic>
        <p:nvPicPr>
          <p:cNvPr id="18" name="図 1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7" t="2608" r="13036" b="3065"/>
          <a:stretch/>
        </p:blipFill>
        <p:spPr>
          <a:xfrm>
            <a:off x="3419872" y="4497573"/>
            <a:ext cx="1944216" cy="1523715"/>
          </a:xfrm>
          <a:prstGeom prst="rect">
            <a:avLst/>
          </a:prstGeom>
        </p:spPr>
      </p:pic>
      <p:pic>
        <p:nvPicPr>
          <p:cNvPr id="17" name="Picture 12" descr="https://encrypted-tbn1.gstatic.com/images?q=tbn:ANd9GcS-2K3z-npXWl_y9I2crb9-1tPAzQgoTK3_-tNPKYD89UD8c5E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502800"/>
            <a:ext cx="4183002" cy="25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http://www.mmc.co.jp/gold/knowledge/img/img01.gif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7" t="4233" r="19186" b="21917"/>
          <a:stretch/>
        </p:blipFill>
        <p:spPr bwMode="auto">
          <a:xfrm>
            <a:off x="1184070" y="3140968"/>
            <a:ext cx="6484274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35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-36512" y="1772816"/>
            <a:ext cx="9180512" cy="244827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l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　　どう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やって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endParaRPr lang="en-US" altLang="ja-JP" sz="2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r>
              <a:rPr lang="en-US" altLang="ja-JP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レバレッジ</a:t>
            </a:r>
            <a:r>
              <a:rPr lang="en-US" altLang="ja-JP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を上手に使う？</a:t>
            </a:r>
            <a:endParaRPr lang="en-US" altLang="ja-JP" sz="7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pic>
        <p:nvPicPr>
          <p:cNvPr id="6" name="Picture 2" descr="http://zerokarafxbo.web.fc2.com/reb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067" y="4663033"/>
            <a:ext cx="4169353" cy="1862311"/>
          </a:xfrm>
          <a:prstGeom prst="rect">
            <a:avLst/>
          </a:prstGeom>
          <a:ln>
            <a:noFill/>
          </a:ln>
          <a:effectLst>
            <a:softEdge rad="112500"/>
          </a:effectLst>
          <a:extLst/>
        </p:spPr>
      </p:pic>
    </p:spTree>
    <p:extLst>
      <p:ext uri="{BB962C8B-B14F-4D97-AF65-F5344CB8AC3E}">
        <p14:creationId xmlns:p14="http://schemas.microsoft.com/office/powerpoint/2010/main" val="324151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82749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レバレッジ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20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倍でトレードするコツ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75432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『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損切りを浅く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』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置ける所でエントリーする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⇒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回の損切りを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10pips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以内に抑えれば、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回の損失を資金の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％以内に抑えられる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216744"/>
            <a:ext cx="8496944" cy="2168369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261455"/>
            <a:ext cx="8496944" cy="2123658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どうすれば、</a:t>
            </a:r>
            <a:endParaRPr lang="en-US" altLang="ja-JP" sz="3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3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『</a:t>
            </a:r>
            <a:r>
              <a:rPr lang="ja-JP" altLang="en-US" sz="3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損切りを浅く</a:t>
            </a:r>
            <a:r>
              <a:rPr lang="en-US" altLang="ja-JP" sz="3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』</a:t>
            </a:r>
            <a:r>
              <a:rPr lang="ja-JP" altLang="en-US" sz="3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置ける所でエントリー出来る？</a:t>
            </a:r>
            <a:endParaRPr lang="en-US" altLang="ja-JP" sz="3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endParaRPr lang="en-US" altLang="ja-JP" sz="2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一方向へ動く所でエントリーする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251520" y="5600622"/>
            <a:ext cx="8496944" cy="75259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5645333"/>
            <a:ext cx="8496944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⇒具体的にどう狙うのか？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480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  <p:bldP spid="19" grpId="0" animBg="1"/>
      <p:bldP spid="2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14371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Ｐｏｉｎｔ１：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抵抗帯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多くの人が意識している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抵抗帯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を狙い撃ち！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068960"/>
            <a:ext cx="8496944" cy="3020569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137422"/>
            <a:ext cx="8496944" cy="2862322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多くの人が意識している抵抗帯には・・・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の視線が集まっている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の注文が集まっている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⇒そこに価格が来ると、「よーい、ドン！」で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一気に一方向へ動きやすい！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344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09" r="2937" b="7500"/>
          <a:stretch/>
        </p:blipFill>
        <p:spPr bwMode="auto">
          <a:xfrm>
            <a:off x="36020" y="1340768"/>
            <a:ext cx="907248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直線コネクタ 19"/>
          <p:cNvCxnSpPr/>
          <p:nvPr/>
        </p:nvCxnSpPr>
        <p:spPr>
          <a:xfrm>
            <a:off x="36020" y="4293096"/>
            <a:ext cx="8712444" cy="0"/>
          </a:xfrm>
          <a:prstGeom prst="line">
            <a:avLst/>
          </a:pr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円/楕円 20"/>
          <p:cNvSpPr/>
          <p:nvPr/>
        </p:nvSpPr>
        <p:spPr>
          <a:xfrm>
            <a:off x="3125238" y="4149080"/>
            <a:ext cx="274057" cy="27405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/>
        </p:nvSpPr>
        <p:spPr>
          <a:xfrm>
            <a:off x="4452165" y="4149080"/>
            <a:ext cx="274057" cy="274057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星 4 22"/>
          <p:cNvSpPr/>
          <p:nvPr/>
        </p:nvSpPr>
        <p:spPr>
          <a:xfrm>
            <a:off x="4901560" y="4127872"/>
            <a:ext cx="216024" cy="216024"/>
          </a:xfrm>
          <a:prstGeom prst="star4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星 4 23"/>
          <p:cNvSpPr/>
          <p:nvPr/>
        </p:nvSpPr>
        <p:spPr>
          <a:xfrm>
            <a:off x="5652120" y="4127872"/>
            <a:ext cx="216024" cy="216024"/>
          </a:xfrm>
          <a:prstGeom prst="star4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75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3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" dur="250" autoRev="1" fill="remov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3" grpId="1" animBg="1"/>
      <p:bldP spid="24" grpId="0" animBg="1"/>
      <p:bldP spid="24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14371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Ｐｏｉｎｔ２：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時間帯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41463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多くの人が見ている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を狙い撃ち！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068960"/>
            <a:ext cx="8496944" cy="3020569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137422"/>
            <a:ext cx="8496944" cy="2862322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多くの人が意識している時間帯では・・・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多く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の注文が入り、大きな動きになり易い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銀行資本が入ると「ビッグウェーブ」発生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東京市場（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9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時～）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ロンドン市場（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16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時頃～）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ニューヨーク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市場（</a:t>
            </a:r>
            <a:r>
              <a:rPr lang="en-US" altLang="ja-JP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21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時頃～）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776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3" r="2937" b="6875"/>
          <a:stretch/>
        </p:blipFill>
        <p:spPr bwMode="auto">
          <a:xfrm>
            <a:off x="36020" y="1340768"/>
            <a:ext cx="9072484" cy="4574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円/楕円 19"/>
          <p:cNvSpPr/>
          <p:nvPr/>
        </p:nvSpPr>
        <p:spPr>
          <a:xfrm>
            <a:off x="4067944" y="2924944"/>
            <a:ext cx="432048" cy="182921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4386411" y="4077072"/>
            <a:ext cx="425061" cy="1210161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/>
        </p:nvSpPr>
        <p:spPr>
          <a:xfrm>
            <a:off x="7596336" y="2924945"/>
            <a:ext cx="425061" cy="213229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/>
        </p:nvSpPr>
        <p:spPr>
          <a:xfrm>
            <a:off x="8172400" y="3212976"/>
            <a:ext cx="425061" cy="172819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247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115212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Ｐｏｉｎｔ３：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やらない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58650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ＦＸ最大の利点の一つは？・・・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2852936"/>
            <a:ext cx="8496944" cy="1326976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2970818"/>
            <a:ext cx="8496944" cy="101566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『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見逃し三振がない！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』</a:t>
            </a:r>
          </a:p>
        </p:txBody>
      </p:sp>
      <p:sp>
        <p:nvSpPr>
          <p:cNvPr id="17" name="角丸四角形 16"/>
          <p:cNvSpPr/>
          <p:nvPr/>
        </p:nvSpPr>
        <p:spPr>
          <a:xfrm>
            <a:off x="251520" y="4463246"/>
            <a:ext cx="8496944" cy="184607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4581128"/>
            <a:ext cx="8496944" cy="166199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自分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のイメージの形でない時は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やらない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が、勝者の秘訣！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03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21" grpId="0" animBg="1"/>
      <p:bldP spid="22" grpId="0" build="p"/>
      <p:bldP spid="17" grpId="0" animBg="1"/>
      <p:bldP spid="18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1"/>
            <a:ext cx="8496944" cy="194421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マーケットは</a:t>
            </a:r>
            <a:r>
              <a:rPr lang="en-US" altLang="ja-JP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【2</a:t>
            </a:r>
            <a:r>
              <a:rPr lang="ja-JP" altLang="en-US" kern="0" dirty="0" err="1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つの</a:t>
            </a:r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グループ</a:t>
            </a:r>
            <a:r>
              <a:rPr lang="en-US" altLang="ja-JP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で構成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14634"/>
            <a:ext cx="8496944" cy="1692771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マーケットを構成するのは・・・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en-US" altLang="ja-JP" sz="6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6000" b="1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平均</a:t>
            </a:r>
            <a:r>
              <a:rPr lang="en-US" altLang="ja-JP" sz="6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か</a:t>
            </a:r>
            <a:r>
              <a:rPr lang="en-US" altLang="ja-JP" sz="6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6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勝者</a:t>
            </a:r>
            <a:r>
              <a:rPr lang="en-US" altLang="ja-JP" sz="6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501008"/>
            <a:ext cx="8496944" cy="2179986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618890"/>
            <a:ext cx="8496944" cy="206210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その中で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生き残るのは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・・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en-US" altLang="ja-JP" sz="8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8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勝者</a:t>
            </a:r>
            <a:r>
              <a:rPr lang="en-US" altLang="ja-JP" sz="8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8000" b="1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のみ！</a:t>
            </a:r>
            <a:endParaRPr lang="en-US" altLang="ja-JP" sz="8000" b="1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720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uiExpand="1" build="p"/>
      <p:bldP spid="17" grpId="0" animBg="1"/>
      <p:bldP spid="18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1"/>
            <a:ext cx="8496944" cy="1152129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平均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か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勝者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か</a:t>
            </a:r>
            <a:endParaRPr lang="en-US" altLang="ja-JP" sz="6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14634"/>
            <a:ext cx="8496944" cy="92333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平均</a:t>
            </a:r>
            <a:r>
              <a:rPr lang="en-US" altLang="ja-JP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とは・・・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2636912"/>
            <a:ext cx="8496944" cy="273630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2754794"/>
            <a:ext cx="8496944" cy="3170099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色々な手法に手を出す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やるべき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ルール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が定まっていない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完璧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な手法を求めて放浪する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手法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が多ければ良くなると思う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3116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21" grpId="0" animBg="1"/>
      <p:bldP spid="2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1"/>
            <a:ext cx="8496944" cy="1152129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マーケットを構成する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２つの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グループ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14634"/>
            <a:ext cx="8496944" cy="92333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勝者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とは・・・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2636912"/>
            <a:ext cx="8496944" cy="273630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2754794"/>
            <a:ext cx="8496944" cy="2554545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分かり易い所に狙いを絞る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やるべき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ルール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 err="1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が簡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単明瞭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やるべき事に集中する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少ない手法をとことん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使いこなす</a:t>
            </a:r>
            <a:endParaRPr lang="ja-JP" altLang="en-US" sz="40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27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21" grpId="0" animBg="1"/>
      <p:bldP spid="2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FX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勝者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になりたい人は・・・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1346577"/>
            <a:ext cx="8496944" cy="1362343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1385481"/>
            <a:ext cx="8496944" cy="1323439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自分のエントリーポイント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明確にし</a:t>
            </a:r>
            <a:endParaRPr lang="en-US" altLang="ja-JP" sz="40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自分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ターゲット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以外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は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やらない</a:t>
            </a:r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！</a:t>
            </a:r>
            <a:endParaRPr lang="en-US" altLang="ja-JP" sz="40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pic>
        <p:nvPicPr>
          <p:cNvPr id="17" name="図 1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8" b="9501"/>
          <a:stretch/>
        </p:blipFill>
        <p:spPr>
          <a:xfrm>
            <a:off x="900074" y="3038053"/>
            <a:ext cx="712831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6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-36512" y="836712"/>
            <a:ext cx="9180512" cy="4248472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エントリーポイントを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明確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にするための・・・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endParaRPr lang="en-US" altLang="ja-JP" sz="1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分析</a:t>
            </a:r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426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第４層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を極める！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60" name="角丸四角形 59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grpSp>
        <p:nvGrpSpPr>
          <p:cNvPr id="2" name="グループ化 1"/>
          <p:cNvGrpSpPr/>
          <p:nvPr/>
        </p:nvGrpSpPr>
        <p:grpSpPr>
          <a:xfrm>
            <a:off x="100272" y="-171400"/>
            <a:ext cx="9113539" cy="6251563"/>
            <a:chOff x="100272" y="-155988"/>
            <a:chExt cx="9113539" cy="6251563"/>
          </a:xfrm>
        </p:grpSpPr>
        <p:grpSp>
          <p:nvGrpSpPr>
            <p:cNvPr id="9" name="グループ化 8"/>
            <p:cNvGrpSpPr/>
            <p:nvPr/>
          </p:nvGrpSpPr>
          <p:grpSpPr>
            <a:xfrm rot="19405130">
              <a:off x="2255225" y="-155988"/>
              <a:ext cx="6958586" cy="5890703"/>
              <a:chOff x="2915816" y="1237208"/>
              <a:chExt cx="6096000" cy="4063999"/>
            </a:xfrm>
            <a:effectLst>
              <a:glow rad="228600">
                <a:srgbClr val="FFC000">
                  <a:alpha val="40000"/>
                </a:srgbClr>
              </a:glow>
            </a:effectLst>
            <a:scene3d>
              <a:camera prst="isometricOffAxis2Right" zoom="91000"/>
              <a:lightRig rig="threePt" dir="t">
                <a:rot lat="0" lon="0" rev="20640000"/>
              </a:lightRig>
            </a:scene3d>
          </p:grpSpPr>
          <p:sp>
            <p:nvSpPr>
              <p:cNvPr id="52" name="フリーフォーム 51"/>
              <p:cNvSpPr/>
              <p:nvPr/>
            </p:nvSpPr>
            <p:spPr>
              <a:xfrm>
                <a:off x="5455816" y="1237208"/>
                <a:ext cx="1016000" cy="677333"/>
              </a:xfrm>
              <a:custGeom>
                <a:avLst/>
                <a:gdLst>
                  <a:gd name="connsiteX0" fmla="*/ 0 w 1016000"/>
                  <a:gd name="connsiteY0" fmla="*/ 677333 h 677333"/>
                  <a:gd name="connsiteX1" fmla="*/ 508000 w 1016000"/>
                  <a:gd name="connsiteY1" fmla="*/ 0 h 677333"/>
                  <a:gd name="connsiteX2" fmla="*/ 508000 w 1016000"/>
                  <a:gd name="connsiteY2" fmla="*/ 0 h 677333"/>
                  <a:gd name="connsiteX3" fmla="*/ 1016000 w 1016000"/>
                  <a:gd name="connsiteY3" fmla="*/ 677333 h 677333"/>
                  <a:gd name="connsiteX4" fmla="*/ 0 w 1016000"/>
                  <a:gd name="connsiteY4" fmla="*/ 677333 h 67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000" h="677333">
                    <a:moveTo>
                      <a:pt x="0" y="677333"/>
                    </a:moveTo>
                    <a:lnTo>
                      <a:pt x="508000" y="0"/>
                    </a:lnTo>
                    <a:lnTo>
                      <a:pt x="508000" y="0"/>
                    </a:lnTo>
                    <a:lnTo>
                      <a:pt x="1016000" y="677333"/>
                    </a:lnTo>
                    <a:lnTo>
                      <a:pt x="0" y="677333"/>
                    </a:lnTo>
                    <a:close/>
                  </a:path>
                </a:pathLst>
              </a:custGeom>
              <a:solidFill>
                <a:srgbClr val="FFCC66"/>
              </a:solidFill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22860" tIns="22860" rIns="22860" bIns="22860" numCol="1" spcCol="1270" anchor="ctr" anchorCtr="0">
                <a:noAutofit/>
              </a:bodyPr>
              <a:lstStyle/>
              <a:p>
                <a:pPr algn="ctr" defTabSz="80010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フリーフォーム 52"/>
              <p:cNvSpPr/>
              <p:nvPr/>
            </p:nvSpPr>
            <p:spPr>
              <a:xfrm>
                <a:off x="4947816" y="1914540"/>
                <a:ext cx="2032000" cy="677333"/>
              </a:xfrm>
              <a:custGeom>
                <a:avLst/>
                <a:gdLst>
                  <a:gd name="connsiteX0" fmla="*/ 0 w 2032000"/>
                  <a:gd name="connsiteY0" fmla="*/ 677333 h 677333"/>
                  <a:gd name="connsiteX1" fmla="*/ 508000 w 2032000"/>
                  <a:gd name="connsiteY1" fmla="*/ 0 h 677333"/>
                  <a:gd name="connsiteX2" fmla="*/ 1524000 w 2032000"/>
                  <a:gd name="connsiteY2" fmla="*/ 0 h 677333"/>
                  <a:gd name="connsiteX3" fmla="*/ 2032000 w 2032000"/>
                  <a:gd name="connsiteY3" fmla="*/ 677333 h 677333"/>
                  <a:gd name="connsiteX4" fmla="*/ 0 w 2032000"/>
                  <a:gd name="connsiteY4" fmla="*/ 677333 h 67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32000" h="677333">
                    <a:moveTo>
                      <a:pt x="0" y="677333"/>
                    </a:moveTo>
                    <a:lnTo>
                      <a:pt x="508000" y="0"/>
                    </a:lnTo>
                    <a:lnTo>
                      <a:pt x="1524000" y="0"/>
                    </a:lnTo>
                    <a:lnTo>
                      <a:pt x="2032000" y="677333"/>
                    </a:lnTo>
                    <a:lnTo>
                      <a:pt x="0" y="677333"/>
                    </a:lnTo>
                    <a:close/>
                  </a:path>
                </a:pathLst>
              </a:custGeom>
              <a:solidFill>
                <a:srgbClr val="FF9933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86080" tIns="30480" rIns="386080" bIns="30480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36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フリーフォーム 53"/>
              <p:cNvSpPr/>
              <p:nvPr/>
            </p:nvSpPr>
            <p:spPr>
              <a:xfrm>
                <a:off x="4439815" y="2591873"/>
                <a:ext cx="3048000" cy="677333"/>
              </a:xfrm>
              <a:custGeom>
                <a:avLst/>
                <a:gdLst>
                  <a:gd name="connsiteX0" fmla="*/ 0 w 3048000"/>
                  <a:gd name="connsiteY0" fmla="*/ 677333 h 677333"/>
                  <a:gd name="connsiteX1" fmla="*/ 508000 w 3048000"/>
                  <a:gd name="connsiteY1" fmla="*/ 0 h 677333"/>
                  <a:gd name="connsiteX2" fmla="*/ 2540000 w 3048000"/>
                  <a:gd name="connsiteY2" fmla="*/ 0 h 677333"/>
                  <a:gd name="connsiteX3" fmla="*/ 3048000 w 3048000"/>
                  <a:gd name="connsiteY3" fmla="*/ 677333 h 677333"/>
                  <a:gd name="connsiteX4" fmla="*/ 0 w 3048000"/>
                  <a:gd name="connsiteY4" fmla="*/ 677333 h 67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000" h="677333">
                    <a:moveTo>
                      <a:pt x="0" y="677333"/>
                    </a:moveTo>
                    <a:lnTo>
                      <a:pt x="508000" y="0"/>
                    </a:lnTo>
                    <a:lnTo>
                      <a:pt x="2540000" y="0"/>
                    </a:lnTo>
                    <a:lnTo>
                      <a:pt x="3048000" y="677333"/>
                    </a:lnTo>
                    <a:lnTo>
                      <a:pt x="0" y="677333"/>
                    </a:lnTo>
                    <a:close/>
                  </a:path>
                </a:pathLst>
              </a:custGeom>
              <a:solidFill>
                <a:srgbClr val="FF9933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579120" tIns="45720" rIns="579120" bIns="45720" numCol="1" spcCol="1270" anchor="ctr" anchorCtr="0">
                <a:noAutofit/>
              </a:bodyPr>
              <a:lstStyle/>
              <a:p>
                <a:pPr algn="ctr" defTabSz="160020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4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フリーフォーム 54"/>
              <p:cNvSpPr/>
              <p:nvPr/>
            </p:nvSpPr>
            <p:spPr>
              <a:xfrm>
                <a:off x="3931815" y="3269206"/>
                <a:ext cx="4064000" cy="677333"/>
              </a:xfrm>
              <a:custGeom>
                <a:avLst/>
                <a:gdLst>
                  <a:gd name="connsiteX0" fmla="*/ 0 w 4064000"/>
                  <a:gd name="connsiteY0" fmla="*/ 677333 h 677333"/>
                  <a:gd name="connsiteX1" fmla="*/ 508000 w 4064000"/>
                  <a:gd name="connsiteY1" fmla="*/ 0 h 677333"/>
                  <a:gd name="connsiteX2" fmla="*/ 3556000 w 4064000"/>
                  <a:gd name="connsiteY2" fmla="*/ 0 h 677333"/>
                  <a:gd name="connsiteX3" fmla="*/ 4064000 w 4064000"/>
                  <a:gd name="connsiteY3" fmla="*/ 677333 h 677333"/>
                  <a:gd name="connsiteX4" fmla="*/ 0 w 4064000"/>
                  <a:gd name="connsiteY4" fmla="*/ 677333 h 67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4000" h="677333">
                    <a:moveTo>
                      <a:pt x="0" y="677333"/>
                    </a:moveTo>
                    <a:lnTo>
                      <a:pt x="508000" y="0"/>
                    </a:lnTo>
                    <a:lnTo>
                      <a:pt x="3556000" y="0"/>
                    </a:lnTo>
                    <a:lnTo>
                      <a:pt x="4064000" y="677333"/>
                    </a:lnTo>
                    <a:lnTo>
                      <a:pt x="0" y="677333"/>
                    </a:lnTo>
                    <a:close/>
                  </a:path>
                </a:pathLst>
              </a:custGeom>
              <a:solidFill>
                <a:srgbClr val="FF9933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765810" tIns="54610" rIns="765810" bIns="54610" numCol="1" spcCol="1270" anchor="ctr" anchorCtr="0">
                <a:noAutofit/>
              </a:bodyPr>
              <a:lstStyle/>
              <a:p>
                <a:pPr algn="ctr" defTabSz="191135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43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フリーフォーム 55"/>
              <p:cNvSpPr/>
              <p:nvPr/>
            </p:nvSpPr>
            <p:spPr>
              <a:xfrm>
                <a:off x="3423815" y="3946539"/>
                <a:ext cx="5080000" cy="677333"/>
              </a:xfrm>
              <a:custGeom>
                <a:avLst/>
                <a:gdLst>
                  <a:gd name="connsiteX0" fmla="*/ 0 w 5080000"/>
                  <a:gd name="connsiteY0" fmla="*/ 677333 h 677333"/>
                  <a:gd name="connsiteX1" fmla="*/ 508000 w 5080000"/>
                  <a:gd name="connsiteY1" fmla="*/ 0 h 677333"/>
                  <a:gd name="connsiteX2" fmla="*/ 4572000 w 5080000"/>
                  <a:gd name="connsiteY2" fmla="*/ 0 h 677333"/>
                  <a:gd name="connsiteX3" fmla="*/ 5080000 w 5080000"/>
                  <a:gd name="connsiteY3" fmla="*/ 677333 h 677333"/>
                  <a:gd name="connsiteX4" fmla="*/ 0 w 5080000"/>
                  <a:gd name="connsiteY4" fmla="*/ 677333 h 67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80000" h="677333">
                    <a:moveTo>
                      <a:pt x="0" y="677333"/>
                    </a:moveTo>
                    <a:lnTo>
                      <a:pt x="508000" y="0"/>
                    </a:lnTo>
                    <a:lnTo>
                      <a:pt x="4572000" y="0"/>
                    </a:lnTo>
                    <a:lnTo>
                      <a:pt x="5080000" y="677333"/>
                    </a:lnTo>
                    <a:lnTo>
                      <a:pt x="0" y="677333"/>
                    </a:lnTo>
                    <a:close/>
                  </a:path>
                </a:pathLst>
              </a:custGeom>
              <a:solidFill>
                <a:srgbClr val="FF3300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943610" tIns="54610" rIns="943610" bIns="54610" numCol="1" spcCol="1270" anchor="ctr" anchorCtr="0">
                <a:noAutofit/>
              </a:bodyPr>
              <a:lstStyle/>
              <a:p>
                <a:pPr algn="ctr" defTabSz="191135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48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フリーフォーム 56"/>
              <p:cNvSpPr/>
              <p:nvPr/>
            </p:nvSpPr>
            <p:spPr>
              <a:xfrm>
                <a:off x="2915816" y="4623874"/>
                <a:ext cx="6096000" cy="677333"/>
              </a:xfrm>
              <a:custGeom>
                <a:avLst/>
                <a:gdLst>
                  <a:gd name="connsiteX0" fmla="*/ 0 w 6096000"/>
                  <a:gd name="connsiteY0" fmla="*/ 677333 h 677333"/>
                  <a:gd name="connsiteX1" fmla="*/ 508000 w 6096000"/>
                  <a:gd name="connsiteY1" fmla="*/ 0 h 677333"/>
                  <a:gd name="connsiteX2" fmla="*/ 5588000 w 6096000"/>
                  <a:gd name="connsiteY2" fmla="*/ 0 h 677333"/>
                  <a:gd name="connsiteX3" fmla="*/ 6096000 w 6096000"/>
                  <a:gd name="connsiteY3" fmla="*/ 677333 h 677333"/>
                  <a:gd name="connsiteX4" fmla="*/ 0 w 6096000"/>
                  <a:gd name="connsiteY4" fmla="*/ 677333 h 67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96000" h="677333">
                    <a:moveTo>
                      <a:pt x="0" y="677333"/>
                    </a:moveTo>
                    <a:lnTo>
                      <a:pt x="508000" y="0"/>
                    </a:lnTo>
                    <a:lnTo>
                      <a:pt x="5588000" y="0"/>
                    </a:lnTo>
                    <a:lnTo>
                      <a:pt x="6096000" y="677333"/>
                    </a:lnTo>
                    <a:lnTo>
                      <a:pt x="0" y="677333"/>
                    </a:lnTo>
                    <a:close/>
                  </a:path>
                </a:pathLst>
              </a:custGeom>
              <a:solidFill>
                <a:srgbClr val="FF3300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1121409" tIns="54610" rIns="1121411" bIns="54610" numCol="1" spcCol="1270" anchor="ctr" anchorCtr="0">
                <a:noAutofit/>
              </a:bodyPr>
              <a:lstStyle/>
              <a:p>
                <a:pPr algn="ctr" defTabSz="191135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6000" b="1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グループ化 10"/>
            <p:cNvGrpSpPr/>
            <p:nvPr/>
          </p:nvGrpSpPr>
          <p:grpSpPr>
            <a:xfrm rot="629298">
              <a:off x="366971" y="627227"/>
              <a:ext cx="7294806" cy="5468348"/>
              <a:chOff x="-816026" y="974434"/>
              <a:chExt cx="8637027" cy="5328590"/>
            </a:xfrm>
            <a:effectLst>
              <a:glow rad="228600">
                <a:srgbClr val="FFC000">
                  <a:alpha val="40000"/>
                </a:srgbClr>
              </a:glow>
            </a:effectLst>
            <a:scene3d>
              <a:camera prst="perspectiveLeft" zoom="91000"/>
              <a:lightRig rig="threePt" dir="t">
                <a:rot lat="0" lon="0" rev="20640000"/>
              </a:lightRig>
            </a:scene3d>
          </p:grpSpPr>
          <p:sp>
            <p:nvSpPr>
              <p:cNvPr id="46" name="フリーフォーム 45"/>
              <p:cNvSpPr/>
              <p:nvPr/>
            </p:nvSpPr>
            <p:spPr>
              <a:xfrm>
                <a:off x="2782734" y="974434"/>
                <a:ext cx="1439505" cy="888098"/>
              </a:xfrm>
              <a:custGeom>
                <a:avLst/>
                <a:gdLst>
                  <a:gd name="connsiteX0" fmla="*/ 0 w 1439504"/>
                  <a:gd name="connsiteY0" fmla="*/ 888098 h 888098"/>
                  <a:gd name="connsiteX1" fmla="*/ 719750 w 1439504"/>
                  <a:gd name="connsiteY1" fmla="*/ 0 h 888098"/>
                  <a:gd name="connsiteX2" fmla="*/ 719754 w 1439504"/>
                  <a:gd name="connsiteY2" fmla="*/ 0 h 888098"/>
                  <a:gd name="connsiteX3" fmla="*/ 1439504 w 1439504"/>
                  <a:gd name="connsiteY3" fmla="*/ 888098 h 888098"/>
                  <a:gd name="connsiteX4" fmla="*/ 0 w 1439504"/>
                  <a:gd name="connsiteY4" fmla="*/ 888098 h 88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9504" h="888098">
                    <a:moveTo>
                      <a:pt x="0" y="888098"/>
                    </a:moveTo>
                    <a:lnTo>
                      <a:pt x="719750" y="0"/>
                    </a:lnTo>
                    <a:lnTo>
                      <a:pt x="719754" y="0"/>
                    </a:lnTo>
                    <a:lnTo>
                      <a:pt x="1439504" y="888098"/>
                    </a:lnTo>
                    <a:lnTo>
                      <a:pt x="0" y="888098"/>
                    </a:lnTo>
                    <a:close/>
                  </a:path>
                </a:pathLst>
              </a:custGeom>
              <a:solidFill>
                <a:srgbClr val="FFCC66"/>
              </a:solidFill>
              <a:ln>
                <a:solidFill>
                  <a:srgbClr val="FFC000"/>
                </a:solidFill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3020" tIns="33020" rIns="33020" bIns="33020" numCol="1" spcCol="1270" anchor="ctr" anchorCtr="0">
                <a:noAutofit/>
              </a:bodyPr>
              <a:lstStyle/>
              <a:p>
                <a:pPr algn="ctr" defTabSz="115570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2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フリーフォーム 46"/>
              <p:cNvSpPr/>
              <p:nvPr/>
            </p:nvSpPr>
            <p:spPr>
              <a:xfrm>
                <a:off x="2062983" y="1862531"/>
                <a:ext cx="2879009" cy="888098"/>
              </a:xfrm>
              <a:custGeom>
                <a:avLst/>
                <a:gdLst>
                  <a:gd name="connsiteX0" fmla="*/ 0 w 2879009"/>
                  <a:gd name="connsiteY0" fmla="*/ 888098 h 888098"/>
                  <a:gd name="connsiteX1" fmla="*/ 719750 w 2879009"/>
                  <a:gd name="connsiteY1" fmla="*/ 0 h 888098"/>
                  <a:gd name="connsiteX2" fmla="*/ 2159259 w 2879009"/>
                  <a:gd name="connsiteY2" fmla="*/ 0 h 888098"/>
                  <a:gd name="connsiteX3" fmla="*/ 2879009 w 2879009"/>
                  <a:gd name="connsiteY3" fmla="*/ 888098 h 888098"/>
                  <a:gd name="connsiteX4" fmla="*/ 0 w 2879009"/>
                  <a:gd name="connsiteY4" fmla="*/ 888098 h 88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79009" h="888098">
                    <a:moveTo>
                      <a:pt x="0" y="888098"/>
                    </a:moveTo>
                    <a:lnTo>
                      <a:pt x="719750" y="0"/>
                    </a:lnTo>
                    <a:lnTo>
                      <a:pt x="2159259" y="0"/>
                    </a:lnTo>
                    <a:lnTo>
                      <a:pt x="2879009" y="888098"/>
                    </a:lnTo>
                    <a:lnTo>
                      <a:pt x="0" y="888098"/>
                    </a:lnTo>
                    <a:close/>
                  </a:path>
                </a:pathLst>
              </a:custGeom>
              <a:solidFill>
                <a:srgbClr val="FF9933"/>
              </a:solidFill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547006" tIns="43180" rIns="547008" bIns="43180" numCol="1" spcCol="1270" anchor="ctr" anchorCtr="0">
                <a:noAutofit/>
              </a:bodyPr>
              <a:lstStyle/>
              <a:p>
                <a:pPr algn="ctr" defTabSz="151130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34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8" name="フリーフォーム 47"/>
              <p:cNvSpPr/>
              <p:nvPr/>
            </p:nvSpPr>
            <p:spPr>
              <a:xfrm>
                <a:off x="1343230" y="2750630"/>
                <a:ext cx="4318514" cy="888098"/>
              </a:xfrm>
              <a:custGeom>
                <a:avLst/>
                <a:gdLst>
                  <a:gd name="connsiteX0" fmla="*/ 0 w 4318513"/>
                  <a:gd name="connsiteY0" fmla="*/ 888098 h 888098"/>
                  <a:gd name="connsiteX1" fmla="*/ 719750 w 4318513"/>
                  <a:gd name="connsiteY1" fmla="*/ 0 h 888098"/>
                  <a:gd name="connsiteX2" fmla="*/ 3598763 w 4318513"/>
                  <a:gd name="connsiteY2" fmla="*/ 0 h 888098"/>
                  <a:gd name="connsiteX3" fmla="*/ 4318513 w 4318513"/>
                  <a:gd name="connsiteY3" fmla="*/ 888098 h 888098"/>
                  <a:gd name="connsiteX4" fmla="*/ 0 w 4318513"/>
                  <a:gd name="connsiteY4" fmla="*/ 888098 h 88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18513" h="888098">
                    <a:moveTo>
                      <a:pt x="0" y="888098"/>
                    </a:moveTo>
                    <a:lnTo>
                      <a:pt x="719750" y="0"/>
                    </a:lnTo>
                    <a:lnTo>
                      <a:pt x="3598763" y="0"/>
                    </a:lnTo>
                    <a:lnTo>
                      <a:pt x="4318513" y="888098"/>
                    </a:lnTo>
                    <a:lnTo>
                      <a:pt x="0" y="888098"/>
                    </a:lnTo>
                    <a:close/>
                  </a:path>
                </a:pathLst>
              </a:custGeom>
              <a:solidFill>
                <a:srgbClr val="FF9933"/>
              </a:solidFill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820510" tIns="64770" rIns="820510" bIns="64770" numCol="1" spcCol="1270" anchor="ctr" anchorCtr="0">
                <a:noAutofit/>
              </a:bodyPr>
              <a:lstStyle/>
              <a:p>
                <a:pPr algn="ctr" defTabSz="226695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sz="5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フリーフォーム 48"/>
              <p:cNvSpPr/>
              <p:nvPr/>
            </p:nvSpPr>
            <p:spPr>
              <a:xfrm>
                <a:off x="620196" y="3658932"/>
                <a:ext cx="5758018" cy="888098"/>
              </a:xfrm>
              <a:custGeom>
                <a:avLst/>
                <a:gdLst>
                  <a:gd name="connsiteX0" fmla="*/ 0 w 5758018"/>
                  <a:gd name="connsiteY0" fmla="*/ 888098 h 888098"/>
                  <a:gd name="connsiteX1" fmla="*/ 719750 w 5758018"/>
                  <a:gd name="connsiteY1" fmla="*/ 0 h 888098"/>
                  <a:gd name="connsiteX2" fmla="*/ 5038268 w 5758018"/>
                  <a:gd name="connsiteY2" fmla="*/ 0 h 888098"/>
                  <a:gd name="connsiteX3" fmla="*/ 5758018 w 5758018"/>
                  <a:gd name="connsiteY3" fmla="*/ 888098 h 888098"/>
                  <a:gd name="connsiteX4" fmla="*/ 0 w 5758018"/>
                  <a:gd name="connsiteY4" fmla="*/ 888098 h 88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58018" h="888098">
                    <a:moveTo>
                      <a:pt x="0" y="888098"/>
                    </a:moveTo>
                    <a:lnTo>
                      <a:pt x="719750" y="0"/>
                    </a:lnTo>
                    <a:lnTo>
                      <a:pt x="5038268" y="0"/>
                    </a:lnTo>
                    <a:lnTo>
                      <a:pt x="5758018" y="888098"/>
                    </a:lnTo>
                    <a:lnTo>
                      <a:pt x="0" y="888098"/>
                    </a:lnTo>
                    <a:close/>
                  </a:path>
                </a:pathLst>
              </a:custGeom>
              <a:solidFill>
                <a:srgbClr val="FF9933"/>
              </a:solidFill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1078773" tIns="71120" rIns="1078774" bIns="71120" numCol="1" spcCol="1270" anchor="ctr" anchorCtr="0">
                <a:noAutofit/>
              </a:bodyPr>
              <a:lstStyle/>
              <a:p>
                <a:pPr algn="ctr" defTabSz="2489200">
                  <a:lnSpc>
                    <a:spcPct val="90000"/>
                  </a:lnSpc>
                  <a:spcAft>
                    <a:spcPct val="35000"/>
                  </a:spcAft>
                </a:pPr>
                <a:endParaRPr lang="en-US" altLang="ja-JP" dirty="0">
                  <a:solidFill>
                    <a:srgbClr val="000000"/>
                  </a:solidFill>
                </a:endParaRPr>
              </a:p>
              <a:p>
                <a:pPr algn="ctr" defTabSz="2489200">
                  <a:lnSpc>
                    <a:spcPct val="90000"/>
                  </a:lnSpc>
                  <a:spcAft>
                    <a:spcPct val="35000"/>
                  </a:spcAft>
                </a:pPr>
                <a:endParaRPr lang="ja-JP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フリーフォーム 49"/>
              <p:cNvSpPr/>
              <p:nvPr/>
            </p:nvSpPr>
            <p:spPr>
              <a:xfrm>
                <a:off x="-96274" y="4526825"/>
                <a:ext cx="7197523" cy="888098"/>
              </a:xfrm>
              <a:custGeom>
                <a:avLst/>
                <a:gdLst>
                  <a:gd name="connsiteX0" fmla="*/ 0 w 7197522"/>
                  <a:gd name="connsiteY0" fmla="*/ 888098 h 888098"/>
                  <a:gd name="connsiteX1" fmla="*/ 719750 w 7197522"/>
                  <a:gd name="connsiteY1" fmla="*/ 0 h 888098"/>
                  <a:gd name="connsiteX2" fmla="*/ 6477772 w 7197522"/>
                  <a:gd name="connsiteY2" fmla="*/ 0 h 888098"/>
                  <a:gd name="connsiteX3" fmla="*/ 7197522 w 7197522"/>
                  <a:gd name="connsiteY3" fmla="*/ 888098 h 888098"/>
                  <a:gd name="connsiteX4" fmla="*/ 0 w 7197522"/>
                  <a:gd name="connsiteY4" fmla="*/ 888098 h 88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97522" h="888098">
                    <a:moveTo>
                      <a:pt x="0" y="888098"/>
                    </a:moveTo>
                    <a:lnTo>
                      <a:pt x="719750" y="0"/>
                    </a:lnTo>
                    <a:lnTo>
                      <a:pt x="6477772" y="0"/>
                    </a:lnTo>
                    <a:lnTo>
                      <a:pt x="7197522" y="888098"/>
                    </a:lnTo>
                    <a:lnTo>
                      <a:pt x="0" y="888098"/>
                    </a:lnTo>
                    <a:close/>
                  </a:path>
                </a:pathLst>
              </a:custGeom>
              <a:solidFill>
                <a:srgbClr val="FF3300"/>
              </a:solidFill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1330686" tIns="71120" rIns="1330687" bIns="71120" numCol="1" spcCol="1270" anchor="ctr" anchorCtr="0">
                <a:noAutofit/>
              </a:bodyPr>
              <a:lstStyle/>
              <a:p>
                <a:pPr algn="ctr" defTabSz="2489200">
                  <a:lnSpc>
                    <a:spcPct val="90000"/>
                  </a:lnSpc>
                  <a:spcAft>
                    <a:spcPct val="35000"/>
                  </a:spcAft>
                </a:pPr>
                <a:endParaRPr lang="en-US" altLang="ja-JP" sz="3200" strike="sngStrike" dirty="0">
                  <a:ln w="19050">
                    <a:solidFill>
                      <a:srgbClr val="000000">
                        <a:tint val="1000"/>
                      </a:srgbClr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50000" dist="50800" dir="7500000" algn="tl">
                      <a:srgbClr val="000000">
                        <a:shade val="5000"/>
                        <a:alpha val="35000"/>
                      </a:srgbClr>
                    </a:outerShdw>
                  </a:effectLst>
                </a:endParaRPr>
              </a:p>
            </p:txBody>
          </p:sp>
          <p:sp>
            <p:nvSpPr>
              <p:cNvPr id="51" name="フリーフォーム 50"/>
              <p:cNvSpPr/>
              <p:nvPr/>
            </p:nvSpPr>
            <p:spPr>
              <a:xfrm>
                <a:off x="-816026" y="5414926"/>
                <a:ext cx="8637027" cy="888098"/>
              </a:xfrm>
              <a:custGeom>
                <a:avLst/>
                <a:gdLst>
                  <a:gd name="connsiteX0" fmla="*/ 0 w 8637027"/>
                  <a:gd name="connsiteY0" fmla="*/ 888098 h 888098"/>
                  <a:gd name="connsiteX1" fmla="*/ 719750 w 8637027"/>
                  <a:gd name="connsiteY1" fmla="*/ 0 h 888098"/>
                  <a:gd name="connsiteX2" fmla="*/ 7917277 w 8637027"/>
                  <a:gd name="connsiteY2" fmla="*/ 0 h 888098"/>
                  <a:gd name="connsiteX3" fmla="*/ 8637027 w 8637027"/>
                  <a:gd name="connsiteY3" fmla="*/ 888098 h 888098"/>
                  <a:gd name="connsiteX4" fmla="*/ 0 w 8637027"/>
                  <a:gd name="connsiteY4" fmla="*/ 888098 h 888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37027" h="888098">
                    <a:moveTo>
                      <a:pt x="0" y="888098"/>
                    </a:moveTo>
                    <a:lnTo>
                      <a:pt x="719750" y="0"/>
                    </a:lnTo>
                    <a:lnTo>
                      <a:pt x="7917277" y="0"/>
                    </a:lnTo>
                    <a:lnTo>
                      <a:pt x="8637027" y="888098"/>
                    </a:lnTo>
                    <a:lnTo>
                      <a:pt x="0" y="888098"/>
                    </a:lnTo>
                    <a:close/>
                  </a:path>
                </a:pathLst>
              </a:custGeom>
              <a:solidFill>
                <a:srgbClr val="FF3300"/>
              </a:solidFill>
              <a:sp3d extrusionH="50600" prstMaterial="metal">
                <a:bevelT w="101600" h="80600" prst="angle"/>
                <a:bevelB w="80600" h="806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1580059" tIns="68580" rIns="1580061" bIns="68580" numCol="1" spcCol="1270" anchor="ctr" anchorCtr="0">
                <a:noAutofit/>
              </a:bodyPr>
              <a:lstStyle/>
              <a:p>
                <a:pPr algn="ctr" defTabSz="2400300">
                  <a:lnSpc>
                    <a:spcPct val="90000"/>
                  </a:lnSpc>
                  <a:spcAft>
                    <a:spcPct val="35000"/>
                  </a:spcAft>
                </a:pPr>
                <a:endParaRPr lang="en-US" altLang="ja-JP" sz="5400" b="1" spc="600" dirty="0" smtClean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2" name="グループ化 11"/>
            <p:cNvGrpSpPr/>
            <p:nvPr/>
          </p:nvGrpSpPr>
          <p:grpSpPr>
            <a:xfrm>
              <a:off x="100272" y="1001613"/>
              <a:ext cx="9018178" cy="4764269"/>
              <a:chOff x="100272" y="1001613"/>
              <a:chExt cx="9018178" cy="4764269"/>
            </a:xfrm>
          </p:grpSpPr>
          <p:cxnSp>
            <p:nvCxnSpPr>
              <p:cNvPr id="13" name="直線コネクタ 12"/>
              <p:cNvCxnSpPr/>
              <p:nvPr/>
            </p:nvCxnSpPr>
            <p:spPr>
              <a:xfrm flipH="1">
                <a:off x="3859904" y="2523304"/>
                <a:ext cx="237421" cy="1656184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コネクタ 13"/>
              <p:cNvCxnSpPr/>
              <p:nvPr/>
            </p:nvCxnSpPr>
            <p:spPr>
              <a:xfrm flipV="1">
                <a:off x="4664685" y="3517106"/>
                <a:ext cx="133677" cy="8305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グループ化 14"/>
              <p:cNvGrpSpPr/>
              <p:nvPr/>
            </p:nvGrpSpPr>
            <p:grpSpPr>
              <a:xfrm>
                <a:off x="100272" y="1001613"/>
                <a:ext cx="3679640" cy="617543"/>
                <a:chOff x="-2679304" y="1336347"/>
                <a:chExt cx="4831197" cy="810806"/>
              </a:xfrm>
            </p:grpSpPr>
            <p:sp>
              <p:nvSpPr>
                <p:cNvPr id="44" name="角丸四角形 43"/>
                <p:cNvSpPr/>
                <p:nvPr/>
              </p:nvSpPr>
              <p:spPr>
                <a:xfrm>
                  <a:off x="-2679304" y="1336347"/>
                  <a:ext cx="4831197" cy="810806"/>
                </a:xfrm>
                <a:prstGeom prst="roundRect">
                  <a:avLst/>
                </a:prstGeom>
                <a:effectLst>
                  <a:glow rad="228600">
                    <a:srgbClr val="FF9900">
                      <a:alpha val="40000"/>
                    </a:srgbClr>
                  </a:glow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  <a:scene3d>
                  <a:camera prst="orthographicFront"/>
                  <a:lightRig rig="threePt" dir="t"/>
                </a:scene3d>
                <a:sp3d>
                  <a:bevelT prst="slope"/>
                </a:sp3d>
              </p:spPr>
              <p:style>
                <a:lnRef idx="1">
                  <a:schemeClr val="accent3"/>
                </a:lnRef>
                <a:fillRef idx="3">
                  <a:schemeClr val="accent3"/>
                </a:fillRef>
                <a:effectRef idx="2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>
                    <a:solidFill>
                      <a:srgbClr val="FF9900"/>
                    </a:solidFill>
                  </a:endParaRPr>
                </a:p>
              </p:txBody>
            </p:sp>
            <p:sp>
              <p:nvSpPr>
                <p:cNvPr id="45" name="正方形/長方形 44"/>
                <p:cNvSpPr/>
                <p:nvPr/>
              </p:nvSpPr>
              <p:spPr>
                <a:xfrm>
                  <a:off x="-2268904" y="1365727"/>
                  <a:ext cx="4040874" cy="686964"/>
                </a:xfrm>
                <a:prstGeom prst="rect">
                  <a:avLst/>
                </a:prstGeom>
                <a:noFill/>
              </p:spPr>
              <p:txBody>
                <a:bodyPr wrap="square" lIns="91440" tIns="45720" rIns="91440" bIns="45720">
                  <a:spAutoFit/>
                </a:bodyPr>
                <a:lstStyle/>
                <a:p>
                  <a:pPr algn="ctr"/>
                  <a:r>
                    <a:rPr lang="ja-JP" altLang="en-US" sz="2800" b="1" dirty="0" smtClean="0">
                      <a:ln w="1905"/>
                      <a:solidFill>
                        <a:srgbClr val="FF99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第一層　夢・目的</a:t>
                  </a:r>
                  <a:endParaRPr lang="ja-JP" altLang="en-US" sz="2800" b="1" dirty="0">
                    <a:ln w="1905"/>
                    <a:solidFill>
                      <a:srgbClr val="FF99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cxnSp>
            <p:nvCxnSpPr>
              <p:cNvPr id="16" name="直線コネクタ 15"/>
              <p:cNvCxnSpPr/>
              <p:nvPr/>
            </p:nvCxnSpPr>
            <p:spPr>
              <a:xfrm flipH="1">
                <a:off x="3053951" y="3243300"/>
                <a:ext cx="128864" cy="7989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コネクタ 16"/>
              <p:cNvCxnSpPr/>
              <p:nvPr/>
            </p:nvCxnSpPr>
            <p:spPr>
              <a:xfrm flipH="1">
                <a:off x="2415236" y="3921131"/>
                <a:ext cx="128864" cy="798952"/>
              </a:xfrm>
              <a:prstGeom prst="line">
                <a:avLst/>
              </a:prstGeom>
              <a:ln w="38100">
                <a:solidFill>
                  <a:srgbClr val="C467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/>
              <p:cNvCxnSpPr/>
              <p:nvPr/>
            </p:nvCxnSpPr>
            <p:spPr>
              <a:xfrm flipH="1">
                <a:off x="3278134" y="4104858"/>
                <a:ext cx="128864" cy="798952"/>
              </a:xfrm>
              <a:prstGeom prst="line">
                <a:avLst/>
              </a:prstGeom>
              <a:ln w="38100">
                <a:solidFill>
                  <a:srgbClr val="C467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18"/>
              <p:cNvCxnSpPr/>
              <p:nvPr/>
            </p:nvCxnSpPr>
            <p:spPr>
              <a:xfrm flipH="1">
                <a:off x="4147776" y="4280366"/>
                <a:ext cx="128864" cy="798952"/>
              </a:xfrm>
              <a:prstGeom prst="line">
                <a:avLst/>
              </a:prstGeom>
              <a:ln w="38100">
                <a:solidFill>
                  <a:srgbClr val="C467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/>
              <p:cNvCxnSpPr/>
              <p:nvPr/>
            </p:nvCxnSpPr>
            <p:spPr>
              <a:xfrm flipH="1">
                <a:off x="5078597" y="4473447"/>
                <a:ext cx="128864" cy="798952"/>
              </a:xfrm>
              <a:prstGeom prst="line">
                <a:avLst/>
              </a:prstGeom>
              <a:ln w="38100">
                <a:solidFill>
                  <a:srgbClr val="C467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正方形/長方形 20"/>
              <p:cNvSpPr/>
              <p:nvPr/>
            </p:nvSpPr>
            <p:spPr>
              <a:xfrm rot="355755">
                <a:off x="3712134" y="1956907"/>
                <a:ext cx="1054264" cy="42059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6729"/>
                  </a:avLst>
                </a:prstTxWarp>
                <a:spAutoFit/>
              </a:bodyPr>
              <a:lstStyle/>
              <a:p>
                <a:r>
                  <a: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トレード</a:t>
                </a:r>
              </a:p>
            </p:txBody>
          </p:sp>
          <p:sp>
            <p:nvSpPr>
              <p:cNvPr id="22" name="正方形/長方形 21"/>
              <p:cNvSpPr/>
              <p:nvPr/>
            </p:nvSpPr>
            <p:spPr>
              <a:xfrm rot="358794">
                <a:off x="3057500" y="2628703"/>
                <a:ext cx="866947" cy="51780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6729"/>
                  </a:avLst>
                </a:prstTxWarp>
                <a:spAutoFit/>
              </a:bodyPr>
              <a:lstStyle/>
              <a:p>
                <a:r>
                  <a:rPr lang="ja-JP" altLang="en-US" sz="2800" b="1" dirty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エントリー</a:t>
                </a:r>
                <a:r>
                  <a:rPr lang="en-US" altLang="ja-JP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/>
                </a:r>
                <a:br>
                  <a:rPr lang="en-US" altLang="ja-JP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</a:br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　ポイント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3" name="正方形/長方形 22"/>
              <p:cNvSpPr/>
              <p:nvPr/>
            </p:nvSpPr>
            <p:spPr>
              <a:xfrm rot="296201">
                <a:off x="4124859" y="2754084"/>
                <a:ext cx="1014849" cy="60337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6729"/>
                  </a:avLst>
                </a:prstTxWarp>
                <a:spAutoFit/>
              </a:bodyPr>
              <a:lstStyle/>
              <a:p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クローズ</a:t>
                </a:r>
                <a:r>
                  <a:rPr lang="en-US" altLang="ja-JP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/>
                </a:r>
                <a:br>
                  <a:rPr lang="en-US" altLang="ja-JP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</a:br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　ポイント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4" name="正方形/長方形 23"/>
              <p:cNvSpPr/>
              <p:nvPr/>
            </p:nvSpPr>
            <p:spPr>
              <a:xfrm rot="524619">
                <a:off x="2313676" y="3430509"/>
                <a:ext cx="763767" cy="32017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92078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ライン分析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5" name="正方形/長方形 24"/>
              <p:cNvSpPr/>
              <p:nvPr/>
            </p:nvSpPr>
            <p:spPr>
              <a:xfrm rot="475800">
                <a:off x="3157375" y="3580117"/>
                <a:ext cx="707648" cy="343973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5388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抵抗帯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6" name="正方形/長方形 25"/>
              <p:cNvSpPr/>
              <p:nvPr/>
            </p:nvSpPr>
            <p:spPr>
              <a:xfrm rot="482043">
                <a:off x="3972685" y="3702693"/>
                <a:ext cx="733118" cy="38955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5388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トレンド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7" name="正方形/長方形 26"/>
              <p:cNvSpPr/>
              <p:nvPr/>
            </p:nvSpPr>
            <p:spPr>
              <a:xfrm rot="358794">
                <a:off x="4791603" y="3733595"/>
                <a:ext cx="803618" cy="60337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6729"/>
                  </a:avLst>
                </a:prstTxWarp>
                <a:spAutoFit/>
              </a:bodyPr>
              <a:lstStyle/>
              <a:p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チャート</a:t>
                </a:r>
                <a:r>
                  <a:rPr lang="en-US" altLang="ja-JP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/>
                </a:r>
                <a:br>
                  <a:rPr lang="en-US" altLang="ja-JP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</a:br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000000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　パターン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8" name="正方形/長方形 27"/>
              <p:cNvSpPr/>
              <p:nvPr/>
            </p:nvSpPr>
            <p:spPr>
              <a:xfrm rot="375791">
                <a:off x="1790972" y="4122539"/>
                <a:ext cx="533731" cy="36473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3506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損切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29" name="正方形/長方形 28"/>
              <p:cNvSpPr/>
              <p:nvPr/>
            </p:nvSpPr>
            <p:spPr>
              <a:xfrm rot="454584">
                <a:off x="2527202" y="4266344"/>
                <a:ext cx="763767" cy="36473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5388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資金管理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30" name="正方形/長方形 29"/>
              <p:cNvSpPr/>
              <p:nvPr/>
            </p:nvSpPr>
            <p:spPr>
              <a:xfrm rot="541295">
                <a:off x="3366904" y="4424740"/>
                <a:ext cx="763767" cy="355984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5388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スタイル</a:t>
                </a:r>
              </a:p>
            </p:txBody>
          </p:sp>
          <p:sp>
            <p:nvSpPr>
              <p:cNvPr id="31" name="正方形/長方形 30"/>
              <p:cNvSpPr/>
              <p:nvPr/>
            </p:nvSpPr>
            <p:spPr>
              <a:xfrm rot="591523">
                <a:off x="4234163" y="4597771"/>
                <a:ext cx="884169" cy="36473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91813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メンタル</a:t>
                </a:r>
              </a:p>
            </p:txBody>
          </p:sp>
          <p:sp>
            <p:nvSpPr>
              <p:cNvPr id="32" name="正方形/長方形 31"/>
              <p:cNvSpPr/>
              <p:nvPr/>
            </p:nvSpPr>
            <p:spPr>
              <a:xfrm rot="531126">
                <a:off x="5264128" y="4798163"/>
                <a:ext cx="638714" cy="401520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prstTxWarp prst="textCascadeDown">
                  <a:avLst>
                    <a:gd name="adj" fmla="val 87771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2800" b="1" dirty="0" smtClean="0">
                    <a:ln w="12700">
                      <a:noFill/>
                      <a:prstDash val="solid"/>
                    </a:ln>
                    <a:solidFill>
                      <a:srgbClr val="FFFFFF"/>
                    </a:solidFill>
                    <a:effectLst>
                      <a:outerShdw blurRad="41275" dist="20320" dir="1800000" algn="tl" rotWithShape="0">
                        <a:srgbClr val="000000">
                          <a:alpha val="40000"/>
                        </a:srgbClr>
                      </a:outerShdw>
                    </a:effectLst>
                  </a:rPr>
                  <a:t>基礎</a:t>
                </a:r>
                <a:endParaRPr lang="ja-JP" altLang="en-US" sz="28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正方形/長方形 32"/>
              <p:cNvSpPr/>
              <p:nvPr/>
            </p:nvSpPr>
            <p:spPr>
              <a:xfrm rot="632801">
                <a:off x="2583197" y="5137791"/>
                <a:ext cx="1999543" cy="628091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CascadeDown">
                  <a:avLst>
                    <a:gd name="adj" fmla="val 88303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5400" b="1" dirty="0" smtClean="0">
                    <a:ln w="18000">
                      <a:noFill/>
                      <a:prstDash val="solid"/>
                      <a:miter lim="800000"/>
                    </a:ln>
                    <a:solidFill>
                      <a:srgbClr val="FFFFFF"/>
                    </a:solidFill>
                    <a:effectLst>
                      <a:outerShdw blurRad="25500" dist="23000" dir="7020000" algn="tl">
                        <a:srgbClr val="000000">
                          <a:alpha val="50000"/>
                        </a:srgbClr>
                      </a:outerShdw>
                    </a:effectLst>
                    <a:latin typeface="ＭＳ Ｐゴシック"/>
                    <a:ea typeface="ＭＳ Ｐゴシック"/>
                  </a:rPr>
                  <a:t>メンタル</a:t>
                </a:r>
                <a:endParaRPr lang="ja-JP" altLang="en-US" sz="5400" b="1" dirty="0">
                  <a:ln w="18000">
                    <a:noFill/>
                    <a:prstDash val="solid"/>
                    <a:miter lim="800000"/>
                  </a:ln>
                  <a:solidFill>
                    <a:srgbClr val="FFFFFF"/>
                  </a:solidFill>
                  <a:effectLst>
                    <a:outerShdw blurRad="25500" dist="23000" dir="7020000" algn="tl">
                      <a:srgbClr val="000000">
                        <a:alpha val="50000"/>
                      </a:srgbClr>
                    </a:outerShdw>
                  </a:effectLst>
                  <a:latin typeface="ＭＳ Ｐゴシック"/>
                  <a:ea typeface="ＭＳ Ｐゴシック"/>
                </a:endParaRPr>
              </a:p>
            </p:txBody>
          </p:sp>
          <p:sp>
            <p:nvSpPr>
              <p:cNvPr id="34" name="線吹き出し 2 33"/>
              <p:cNvSpPr/>
              <p:nvPr/>
            </p:nvSpPr>
            <p:spPr>
              <a:xfrm>
                <a:off x="7596336" y="2455262"/>
                <a:ext cx="882099" cy="473781"/>
              </a:xfrm>
              <a:prstGeom prst="callout2">
                <a:avLst>
                  <a:gd name="adj1" fmla="val 49494"/>
                  <a:gd name="adj2" fmla="val -1422"/>
                  <a:gd name="adj3" fmla="val 49493"/>
                  <a:gd name="adj4" fmla="val -40181"/>
                  <a:gd name="adj5" fmla="val 86489"/>
                  <a:gd name="adj6" fmla="val -46667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400" b="1" i="1" dirty="0" smtClean="0">
                    <a:solidFill>
                      <a:srgbClr val="FF0000"/>
                    </a:solidFill>
                  </a:rPr>
                  <a:t>メンタル</a:t>
                </a:r>
                <a:endParaRPr lang="en-US" altLang="ja-JP" sz="1400" b="1" i="1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ja-JP" altLang="en-US" sz="1400" b="1" i="1" dirty="0" smtClean="0">
                    <a:solidFill>
                      <a:srgbClr val="FF0000"/>
                    </a:solidFill>
                  </a:rPr>
                  <a:t>ルール</a:t>
                </a:r>
                <a:endParaRPr lang="ja-JP" altLang="en-US" sz="1400" b="1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線吹き出し 2 34"/>
              <p:cNvSpPr/>
              <p:nvPr/>
            </p:nvSpPr>
            <p:spPr>
              <a:xfrm>
                <a:off x="7020272" y="1966567"/>
                <a:ext cx="790420" cy="488696"/>
              </a:xfrm>
              <a:prstGeom prst="callout2">
                <a:avLst>
                  <a:gd name="adj1" fmla="val 49438"/>
                  <a:gd name="adj2" fmla="val 664"/>
                  <a:gd name="adj3" fmla="val 49438"/>
                  <a:gd name="adj4" fmla="val -49687"/>
                  <a:gd name="adj5" fmla="val 85253"/>
                  <a:gd name="adj6" fmla="val -57557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400" b="1" i="1" dirty="0" smtClean="0">
                    <a:solidFill>
                      <a:srgbClr val="FF0000"/>
                    </a:solidFill>
                  </a:rPr>
                  <a:t>分析</a:t>
                </a:r>
                <a:endParaRPr lang="en-US" altLang="ja-JP" sz="800" b="1" i="1" dirty="0" smtClean="0">
                  <a:solidFill>
                    <a:srgbClr val="FF0000"/>
                  </a:solidFill>
                </a:endParaRPr>
              </a:p>
              <a:p>
                <a:pPr algn="ctr"/>
                <a:r>
                  <a:rPr lang="ja-JP" altLang="en-US" sz="1400" b="1" i="1" dirty="0" smtClean="0">
                    <a:solidFill>
                      <a:srgbClr val="FF0000"/>
                    </a:solidFill>
                  </a:rPr>
                  <a:t>抵抗帯</a:t>
                </a:r>
                <a:endParaRPr lang="ja-JP" altLang="en-US" sz="1400" b="1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線吹き出し 2 35"/>
              <p:cNvSpPr/>
              <p:nvPr/>
            </p:nvSpPr>
            <p:spPr>
              <a:xfrm>
                <a:off x="6412449" y="1653842"/>
                <a:ext cx="831155" cy="296793"/>
              </a:xfrm>
              <a:prstGeom prst="callout2">
                <a:avLst>
                  <a:gd name="adj1" fmla="val 51413"/>
                  <a:gd name="adj2" fmla="val -3271"/>
                  <a:gd name="adj3" fmla="val 51412"/>
                  <a:gd name="adj4" fmla="val -43400"/>
                  <a:gd name="adj5" fmla="val 111394"/>
                  <a:gd name="adj6" fmla="val -49760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400" b="1" i="1" dirty="0" smtClean="0">
                    <a:solidFill>
                      <a:srgbClr val="FF0000"/>
                    </a:solidFill>
                  </a:rPr>
                  <a:t>イメージ</a:t>
                </a:r>
                <a:endParaRPr lang="ja-JP" altLang="en-US" sz="1400" b="1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線吹き出し 2 36"/>
              <p:cNvSpPr/>
              <p:nvPr/>
            </p:nvSpPr>
            <p:spPr>
              <a:xfrm>
                <a:off x="5904148" y="1270324"/>
                <a:ext cx="756084" cy="347065"/>
              </a:xfrm>
              <a:prstGeom prst="callout2">
                <a:avLst>
                  <a:gd name="adj1" fmla="val 46278"/>
                  <a:gd name="adj2" fmla="val -2286"/>
                  <a:gd name="adj3" fmla="val 46277"/>
                  <a:gd name="adj4" fmla="val -33990"/>
                  <a:gd name="adj5" fmla="val 104983"/>
                  <a:gd name="adj6" fmla="val -42619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400" b="1" i="1" dirty="0">
                    <a:solidFill>
                      <a:srgbClr val="FF0000"/>
                    </a:solidFill>
                  </a:rPr>
                  <a:t>トレード</a:t>
                </a:r>
              </a:p>
            </p:txBody>
          </p:sp>
          <p:sp>
            <p:nvSpPr>
              <p:cNvPr id="38" name="正方形/長方形 37"/>
              <p:cNvSpPr/>
              <p:nvPr/>
            </p:nvSpPr>
            <p:spPr>
              <a:xfrm rot="19258494">
                <a:off x="7053749" y="3910200"/>
                <a:ext cx="785306" cy="100965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lantUp">
                  <a:avLst>
                    <a:gd name="adj" fmla="val 44754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5400" b="1" dirty="0">
                    <a:solidFill>
                      <a:srgbClr val="FFFFFF"/>
                    </a:solidFill>
                  </a:rPr>
                  <a:t>第６層</a:t>
                </a:r>
                <a:endParaRPr lang="ja-JP" altLang="en-US" sz="5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39" name="正方形/長方形 38"/>
              <p:cNvSpPr/>
              <p:nvPr/>
            </p:nvSpPr>
            <p:spPr>
              <a:xfrm rot="19400083">
                <a:off x="6564508" y="3269608"/>
                <a:ext cx="723691" cy="100965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lantUp">
                  <a:avLst>
                    <a:gd name="adj" fmla="val 47350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5400" b="1" dirty="0" smtClean="0">
                    <a:solidFill>
                      <a:srgbClr val="FFFFFF"/>
                    </a:solidFill>
                  </a:rPr>
                  <a:t>第５層</a:t>
                </a:r>
                <a:endParaRPr lang="ja-JP" altLang="en-US" sz="5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40" name="正方形/長方形 39"/>
              <p:cNvSpPr/>
              <p:nvPr/>
            </p:nvSpPr>
            <p:spPr>
              <a:xfrm rot="19400083">
                <a:off x="6042675" y="2694125"/>
                <a:ext cx="666283" cy="92681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lantUp">
                  <a:avLst>
                    <a:gd name="adj" fmla="val 47350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5400" b="1" dirty="0" smtClean="0">
                    <a:solidFill>
                      <a:srgbClr val="000000"/>
                    </a:solidFill>
                  </a:rPr>
                  <a:t>第４層</a:t>
                </a:r>
                <a:endParaRPr lang="ja-JP" altLang="en-US" sz="54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41" name="正方形/長方形 40"/>
              <p:cNvSpPr/>
              <p:nvPr/>
            </p:nvSpPr>
            <p:spPr>
              <a:xfrm rot="19400083">
                <a:off x="5615177" y="2145610"/>
                <a:ext cx="528880" cy="75538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lantUp">
                  <a:avLst>
                    <a:gd name="adj" fmla="val 47350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5400" b="1" dirty="0" smtClean="0">
                    <a:solidFill>
                      <a:srgbClr val="000000"/>
                    </a:solidFill>
                  </a:rPr>
                  <a:t>第３層</a:t>
                </a:r>
                <a:endParaRPr lang="ja-JP" altLang="en-US" sz="54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42" name="正方形/長方形 41"/>
              <p:cNvSpPr/>
              <p:nvPr/>
            </p:nvSpPr>
            <p:spPr>
              <a:xfrm rot="19400083">
                <a:off x="5121901" y="1527344"/>
                <a:ext cx="443266" cy="69002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prstTxWarp prst="textSlantUp">
                  <a:avLst>
                    <a:gd name="adj" fmla="val 47350"/>
                  </a:avLst>
                </a:prstTxWarp>
                <a:spAutoFit/>
              </a:bodyPr>
              <a:lstStyle/>
              <a:p>
                <a:pPr algn="ctr"/>
                <a:r>
                  <a:rPr lang="ja-JP" altLang="en-US" sz="5400" b="1" dirty="0" smtClean="0">
                    <a:solidFill>
                      <a:srgbClr val="000000"/>
                    </a:solidFill>
                  </a:rPr>
                  <a:t>第２層</a:t>
                </a:r>
                <a:endParaRPr lang="ja-JP" altLang="en-US" sz="5400" b="1" dirty="0">
                  <a:ln w="12700">
                    <a:noFill/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</a:endParaRPr>
              </a:p>
            </p:txBody>
          </p:sp>
          <p:sp>
            <p:nvSpPr>
              <p:cNvPr id="43" name="線吹き出し 2 42"/>
              <p:cNvSpPr/>
              <p:nvPr/>
            </p:nvSpPr>
            <p:spPr>
              <a:xfrm>
                <a:off x="8035311" y="2968028"/>
                <a:ext cx="1083139" cy="330983"/>
              </a:xfrm>
              <a:prstGeom prst="callout2">
                <a:avLst>
                  <a:gd name="adj1" fmla="val 49494"/>
                  <a:gd name="adj2" fmla="val 57"/>
                  <a:gd name="adj3" fmla="val 49493"/>
                  <a:gd name="adj4" fmla="val -20554"/>
                  <a:gd name="adj5" fmla="val 101716"/>
                  <a:gd name="adj6" fmla="val -25919"/>
                </a:avLst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600" b="1" i="1" dirty="0" smtClean="0">
                    <a:solidFill>
                      <a:srgbClr val="FF0000"/>
                    </a:solidFill>
                  </a:rPr>
                  <a:t>自分自身</a:t>
                </a:r>
                <a:endParaRPr lang="ja-JP" altLang="en-US" sz="1600" b="1" i="1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6735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556792"/>
            <a:ext cx="8496944" cy="439248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ＦＸで勝つ為の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2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大要素は？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628800"/>
            <a:ext cx="8496944" cy="4154984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9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トレンド</a:t>
            </a:r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  <a:p>
            <a:pPr algn="ctr"/>
            <a:r>
              <a:rPr lang="ja-JP" altLang="en-US" sz="72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</a:t>
            </a:r>
            <a:endParaRPr lang="en-US" altLang="ja-JP" sz="72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抵抗帯</a:t>
            </a:r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5739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3"/>
            <a:ext cx="8496944" cy="525658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ＦＸで勝つ為の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2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大要素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95536" y="1484784"/>
            <a:ext cx="8496944" cy="4832092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トレンド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を見て・・・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　　　　　　　　を決める</a:t>
            </a:r>
            <a:endParaRPr lang="ja-JP" altLang="en-US" sz="48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抵抗帯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を見て・・・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　　　　　　　　　を決める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endParaRPr lang="en-US" altLang="ja-JP" sz="20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3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これを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マスターすれば、</a:t>
            </a:r>
            <a:r>
              <a:rPr lang="ja-JP" altLang="en-US" sz="6000" b="1" i="1" u="sng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勝てます！</a:t>
            </a:r>
            <a:endParaRPr lang="ja-JP" altLang="en-US" sz="6000" b="1" i="1" u="sng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55576" y="2381979"/>
            <a:ext cx="5544616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『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買い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』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か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『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売り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』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</a:t>
            </a:r>
            <a:endParaRPr lang="ja-JP" altLang="en-US" sz="6000" b="1" i="1" u="sng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810168" y="4063424"/>
            <a:ext cx="5544616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エントリーポイント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</a:t>
            </a:r>
            <a:endParaRPr lang="ja-JP" altLang="en-US" sz="6000" b="1" i="1" u="sng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770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uiExpand="1" build="p"/>
      <p:bldP spid="17" grpId="0" build="p"/>
      <p:bldP spid="1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268760"/>
            <a:ext cx="8496944" cy="204467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ワーク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をしながら身に着ける！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81244"/>
            <a:ext cx="8496944" cy="1846659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≪基礎編≫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en-US" altLang="ja-JP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6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トレンド</a:t>
            </a:r>
            <a:r>
              <a:rPr lang="en-US" altLang="ja-JP" sz="6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</a:t>
            </a:r>
            <a:r>
              <a:rPr lang="en-US" altLang="ja-JP" sz="6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6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抵抗帯</a:t>
            </a:r>
            <a:r>
              <a:rPr lang="en-US" altLang="ja-JP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</p:txBody>
      </p:sp>
      <p:sp>
        <p:nvSpPr>
          <p:cNvPr id="18" name="角丸四角形 17"/>
          <p:cNvSpPr/>
          <p:nvPr/>
        </p:nvSpPr>
        <p:spPr>
          <a:xfrm>
            <a:off x="251520" y="3861048"/>
            <a:ext cx="8496944" cy="1944216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51520" y="3933056"/>
            <a:ext cx="8496944" cy="166199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≪実践編≫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ブレイク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エントリー攻略法</a:t>
            </a:r>
            <a:endParaRPr lang="ja-JP" altLang="en-US" sz="54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285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8" grpId="0" animBg="1"/>
      <p:bldP spid="19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-36512" y="1268760"/>
            <a:ext cx="9180512" cy="309634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≪基礎編①≫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トレンド</a:t>
            </a:r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60480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127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トレンド方向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は幾つある？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12776"/>
            <a:ext cx="8496944" cy="110799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上昇／下降／レンジ</a:t>
            </a:r>
            <a:endParaRPr lang="en-US" altLang="ja-JP" sz="6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288032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068960"/>
            <a:ext cx="8640960" cy="258532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上昇⇒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　　　　エントリー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下降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　　　　エントリー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レンジ⇒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　　　　エントリー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411760" y="3116174"/>
            <a:ext cx="2304256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買い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411760" y="3946122"/>
            <a:ext cx="2304256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売り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2771800" y="4763471"/>
            <a:ext cx="2664296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買い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売り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8950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uiExpand="1" build="p"/>
      <p:bldP spid="19" grpId="0"/>
      <p:bldP spid="20" grpId="0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127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トレンド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判断に使うものとは？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12776"/>
            <a:ext cx="8496944" cy="110799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ミドルライン（</a:t>
            </a:r>
            <a:r>
              <a:rPr lang="en-US" altLang="ja-JP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20SMA</a:t>
            </a:r>
            <a:r>
              <a:rPr lang="ja-JP" altLang="en-US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</a:t>
            </a:r>
            <a:endParaRPr lang="en-US" altLang="ja-JP" sz="6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280831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95536" y="3068960"/>
            <a:ext cx="8352928" cy="258532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ミドルラインの使い方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①ミドルラインの傾き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②ミドルラインと足の関係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3223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127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ミドルライン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の使い方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12776"/>
            <a:ext cx="8496944" cy="101566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①ミドルラインの傾き</a:t>
            </a:r>
            <a:endParaRPr lang="en-US" altLang="ja-JP" sz="6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324036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95536" y="3068960"/>
            <a:ext cx="8352928" cy="3046988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ミドルラインの傾きが・・・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上向き⇒上昇トレンド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chemeClr val="accent1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下向き⇒下降トレンド</a:t>
            </a:r>
            <a:endParaRPr lang="en-US" altLang="ja-JP" sz="4800" kern="0" dirty="0" smtClean="0">
              <a:solidFill>
                <a:schemeClr val="accent1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00B05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横向き⇒レンジ</a:t>
            </a:r>
            <a:endParaRPr lang="en-US" altLang="ja-JP" sz="4800" kern="0" dirty="0" smtClean="0">
              <a:solidFill>
                <a:srgbClr val="00B05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0440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のチャート：上昇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角丸四角形 3"/>
          <p:cNvSpPr/>
          <p:nvPr/>
        </p:nvSpPr>
        <p:spPr>
          <a:xfrm>
            <a:off x="1187624" y="3501008"/>
            <a:ext cx="648072" cy="151216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 18"/>
          <p:cNvSpPr/>
          <p:nvPr/>
        </p:nvSpPr>
        <p:spPr>
          <a:xfrm>
            <a:off x="2699792" y="2507704"/>
            <a:ext cx="792088" cy="142535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角丸四角形 19"/>
          <p:cNvSpPr/>
          <p:nvPr/>
        </p:nvSpPr>
        <p:spPr>
          <a:xfrm>
            <a:off x="73000" y="1772816"/>
            <a:ext cx="2753556" cy="59087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上昇</a:t>
            </a:r>
            <a:r>
              <a:rPr kumimoji="1" lang="ja-JP" altLang="en-US" dirty="0" smtClean="0">
                <a:solidFill>
                  <a:srgbClr val="FF0000"/>
                </a:solidFill>
              </a:rPr>
              <a:t>トレンド＝買い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51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のチャート：下降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2" name="角丸四角形 21"/>
          <p:cNvSpPr/>
          <p:nvPr/>
        </p:nvSpPr>
        <p:spPr>
          <a:xfrm>
            <a:off x="73000" y="3356992"/>
            <a:ext cx="682576" cy="1512168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角丸四角形 23"/>
          <p:cNvSpPr/>
          <p:nvPr/>
        </p:nvSpPr>
        <p:spPr>
          <a:xfrm>
            <a:off x="2106476" y="3516537"/>
            <a:ext cx="360040" cy="596539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 25"/>
          <p:cNvSpPr/>
          <p:nvPr/>
        </p:nvSpPr>
        <p:spPr>
          <a:xfrm>
            <a:off x="4085196" y="2331628"/>
            <a:ext cx="936104" cy="15841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/>
          <p:cNvSpPr/>
          <p:nvPr/>
        </p:nvSpPr>
        <p:spPr>
          <a:xfrm>
            <a:off x="6732240" y="3284984"/>
            <a:ext cx="864096" cy="15841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角丸四角形 35"/>
          <p:cNvSpPr/>
          <p:nvPr/>
        </p:nvSpPr>
        <p:spPr>
          <a:xfrm>
            <a:off x="5652120" y="1772816"/>
            <a:ext cx="2736304" cy="59087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accent1"/>
                </a:solidFill>
              </a:rPr>
              <a:t>下降トレンド＝売り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25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 animBg="1"/>
      <p:bldP spid="28" grpId="0" animBg="1"/>
      <p:bldP spid="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のチャート：レンジ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1" name="角丸四角形 30"/>
          <p:cNvSpPr/>
          <p:nvPr/>
        </p:nvSpPr>
        <p:spPr>
          <a:xfrm>
            <a:off x="810332" y="4553638"/>
            <a:ext cx="360040" cy="59653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角丸四角形 31"/>
          <p:cNvSpPr/>
          <p:nvPr/>
        </p:nvSpPr>
        <p:spPr>
          <a:xfrm>
            <a:off x="1801002" y="3429000"/>
            <a:ext cx="360040" cy="59653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角丸四角形 32"/>
          <p:cNvSpPr/>
          <p:nvPr/>
        </p:nvSpPr>
        <p:spPr>
          <a:xfrm>
            <a:off x="2466516" y="3727269"/>
            <a:ext cx="360040" cy="59653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角丸四角形 33"/>
          <p:cNvSpPr/>
          <p:nvPr/>
        </p:nvSpPr>
        <p:spPr>
          <a:xfrm>
            <a:off x="3465724" y="2240121"/>
            <a:ext cx="619471" cy="59653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角丸四角形 34"/>
          <p:cNvSpPr/>
          <p:nvPr/>
        </p:nvSpPr>
        <p:spPr>
          <a:xfrm>
            <a:off x="5021300" y="3194892"/>
            <a:ext cx="1710940" cy="59653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角丸四角形 36"/>
          <p:cNvSpPr/>
          <p:nvPr/>
        </p:nvSpPr>
        <p:spPr>
          <a:xfrm>
            <a:off x="3131840" y="5142384"/>
            <a:ext cx="2952328" cy="59087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00B050"/>
                </a:solidFill>
              </a:rPr>
              <a:t>レンジ＝買い</a:t>
            </a:r>
            <a:r>
              <a:rPr kumimoji="1" lang="en-US" altLang="ja-JP" dirty="0" smtClean="0">
                <a:solidFill>
                  <a:srgbClr val="00B050"/>
                </a:solidFill>
              </a:rPr>
              <a:t>or</a:t>
            </a:r>
            <a:r>
              <a:rPr kumimoji="1" lang="ja-JP" altLang="en-US" dirty="0" smtClean="0">
                <a:solidFill>
                  <a:srgbClr val="00B050"/>
                </a:solidFill>
              </a:rPr>
              <a:t>売り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25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全体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を見ると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6" name="グループ化 5"/>
          <p:cNvGrpSpPr/>
          <p:nvPr/>
        </p:nvGrpSpPr>
        <p:grpSpPr>
          <a:xfrm>
            <a:off x="73000" y="1772816"/>
            <a:ext cx="8315424" cy="3960440"/>
            <a:chOff x="73000" y="1772816"/>
            <a:chExt cx="8315424" cy="3960440"/>
          </a:xfrm>
        </p:grpSpPr>
        <p:grpSp>
          <p:nvGrpSpPr>
            <p:cNvPr id="2" name="グループ化 1"/>
            <p:cNvGrpSpPr/>
            <p:nvPr/>
          </p:nvGrpSpPr>
          <p:grpSpPr>
            <a:xfrm>
              <a:off x="73000" y="1772816"/>
              <a:ext cx="3418880" cy="3240360"/>
              <a:chOff x="73000" y="1772816"/>
              <a:chExt cx="3418880" cy="3240360"/>
            </a:xfrm>
          </p:grpSpPr>
          <p:sp>
            <p:nvSpPr>
              <p:cNvPr id="4" name="角丸四角形 3"/>
              <p:cNvSpPr/>
              <p:nvPr/>
            </p:nvSpPr>
            <p:spPr>
              <a:xfrm>
                <a:off x="1187624" y="3501008"/>
                <a:ext cx="648072" cy="1512168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角丸四角形 18"/>
              <p:cNvSpPr/>
              <p:nvPr/>
            </p:nvSpPr>
            <p:spPr>
              <a:xfrm>
                <a:off x="2699792" y="2507704"/>
                <a:ext cx="792088" cy="1425352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角丸四角形 19"/>
              <p:cNvSpPr/>
              <p:nvPr/>
            </p:nvSpPr>
            <p:spPr>
              <a:xfrm>
                <a:off x="73000" y="1772816"/>
                <a:ext cx="2753556" cy="59087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0"/>
                </a:schemeClr>
              </a:solidFill>
              <a:ln>
                <a:solidFill>
                  <a:srgbClr val="FF0000"/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rgbClr val="FF0000"/>
                    </a:solidFill>
                  </a:rPr>
                  <a:t>上昇</a:t>
                </a:r>
                <a:r>
                  <a:rPr kumimoji="1" lang="ja-JP" altLang="en-US" dirty="0" smtClean="0">
                    <a:solidFill>
                      <a:srgbClr val="FF0000"/>
                    </a:solidFill>
                  </a:rPr>
                  <a:t>トレンド＝買い</a:t>
                </a:r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3" name="グループ化 2"/>
            <p:cNvGrpSpPr/>
            <p:nvPr/>
          </p:nvGrpSpPr>
          <p:grpSpPr>
            <a:xfrm>
              <a:off x="73000" y="1772816"/>
              <a:ext cx="8315424" cy="3096344"/>
              <a:chOff x="73000" y="1772816"/>
              <a:chExt cx="8315424" cy="3096344"/>
            </a:xfrm>
          </p:grpSpPr>
          <p:sp>
            <p:nvSpPr>
              <p:cNvPr id="22" name="角丸四角形 21"/>
              <p:cNvSpPr/>
              <p:nvPr/>
            </p:nvSpPr>
            <p:spPr>
              <a:xfrm>
                <a:off x="73000" y="3356992"/>
                <a:ext cx="682576" cy="1512168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角丸四角形 23"/>
              <p:cNvSpPr/>
              <p:nvPr/>
            </p:nvSpPr>
            <p:spPr>
              <a:xfrm>
                <a:off x="2106476" y="3516537"/>
                <a:ext cx="360040" cy="596539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角丸四角形 25"/>
              <p:cNvSpPr/>
              <p:nvPr/>
            </p:nvSpPr>
            <p:spPr>
              <a:xfrm>
                <a:off x="4085196" y="2331628"/>
                <a:ext cx="936104" cy="158417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角丸四角形 27"/>
              <p:cNvSpPr/>
              <p:nvPr/>
            </p:nvSpPr>
            <p:spPr>
              <a:xfrm>
                <a:off x="6732240" y="3284984"/>
                <a:ext cx="864096" cy="158417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角丸四角形 35"/>
              <p:cNvSpPr/>
              <p:nvPr/>
            </p:nvSpPr>
            <p:spPr>
              <a:xfrm>
                <a:off x="5652120" y="1772816"/>
                <a:ext cx="2736304" cy="59087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0"/>
                </a:schemeClr>
              </a:solidFill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 smtClean="0">
                    <a:solidFill>
                      <a:schemeClr val="accent1"/>
                    </a:solidFill>
                  </a:rPr>
                  <a:t>下降トレンド＝売り</a:t>
                </a:r>
                <a:endParaRPr kumimoji="1" lang="ja-JP" alt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5" name="グループ化 4"/>
            <p:cNvGrpSpPr/>
            <p:nvPr/>
          </p:nvGrpSpPr>
          <p:grpSpPr>
            <a:xfrm>
              <a:off x="810332" y="2240121"/>
              <a:ext cx="5921908" cy="3493135"/>
              <a:chOff x="810332" y="2240121"/>
              <a:chExt cx="5921908" cy="3493135"/>
            </a:xfrm>
          </p:grpSpPr>
          <p:sp>
            <p:nvSpPr>
              <p:cNvPr id="31" name="角丸四角形 30"/>
              <p:cNvSpPr/>
              <p:nvPr/>
            </p:nvSpPr>
            <p:spPr>
              <a:xfrm>
                <a:off x="810332" y="4553638"/>
                <a:ext cx="360040" cy="596539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角丸四角形 31"/>
              <p:cNvSpPr/>
              <p:nvPr/>
            </p:nvSpPr>
            <p:spPr>
              <a:xfrm>
                <a:off x="1801002" y="3429000"/>
                <a:ext cx="360040" cy="596539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角丸四角形 32"/>
              <p:cNvSpPr/>
              <p:nvPr/>
            </p:nvSpPr>
            <p:spPr>
              <a:xfrm>
                <a:off x="2466516" y="3727269"/>
                <a:ext cx="360040" cy="596539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4" name="角丸四角形 33"/>
              <p:cNvSpPr/>
              <p:nvPr/>
            </p:nvSpPr>
            <p:spPr>
              <a:xfrm>
                <a:off x="3465724" y="2240121"/>
                <a:ext cx="619471" cy="596539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角丸四角形 34"/>
              <p:cNvSpPr/>
              <p:nvPr/>
            </p:nvSpPr>
            <p:spPr>
              <a:xfrm>
                <a:off x="5021300" y="3194892"/>
                <a:ext cx="1710940" cy="596539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角丸四角形 36"/>
              <p:cNvSpPr/>
              <p:nvPr/>
            </p:nvSpPr>
            <p:spPr>
              <a:xfrm>
                <a:off x="3131840" y="5142384"/>
                <a:ext cx="2952328" cy="59087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0"/>
                </a:schemeClr>
              </a:solidFill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 smtClean="0">
                    <a:solidFill>
                      <a:srgbClr val="00B050"/>
                    </a:solidFill>
                  </a:rPr>
                  <a:t>レンジ＝買い</a:t>
                </a:r>
                <a:r>
                  <a:rPr kumimoji="1" lang="en-US" altLang="ja-JP" dirty="0" smtClean="0">
                    <a:solidFill>
                      <a:srgbClr val="00B050"/>
                    </a:solidFill>
                  </a:rPr>
                  <a:t>or</a:t>
                </a:r>
                <a:r>
                  <a:rPr kumimoji="1" lang="ja-JP" altLang="en-US" dirty="0" smtClean="0">
                    <a:solidFill>
                      <a:srgbClr val="00B050"/>
                    </a:solidFill>
                  </a:rPr>
                  <a:t>売り</a:t>
                </a:r>
                <a:endParaRPr kumimoji="1" lang="ja-JP" altLang="en-US" dirty="0">
                  <a:solidFill>
                    <a:srgbClr val="00B05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525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127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ミドルライン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の使い方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412776"/>
            <a:ext cx="8496944" cy="101566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ミドルラインと足の関係</a:t>
            </a:r>
            <a:endParaRPr lang="en-US" altLang="ja-JP" sz="6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324036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95536" y="3068960"/>
            <a:ext cx="8352928" cy="3046988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足がミドルラインの・・・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上にある⇒上昇トレンド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chemeClr val="accent1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下にある⇒下降トレンド</a:t>
            </a:r>
            <a:endParaRPr lang="en-US" altLang="ja-JP" sz="4800" kern="0" dirty="0" smtClean="0">
              <a:solidFill>
                <a:schemeClr val="accent1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>
                <a:solidFill>
                  <a:srgbClr val="00B05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上下</a:t>
            </a:r>
            <a:r>
              <a:rPr lang="ja-JP" altLang="en-US" sz="4800" kern="0" dirty="0" smtClean="0">
                <a:solidFill>
                  <a:srgbClr val="00B05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を行き来する⇒レンジ</a:t>
            </a:r>
            <a:endParaRPr lang="en-US" altLang="ja-JP" sz="4800" kern="0" dirty="0" smtClean="0">
              <a:solidFill>
                <a:srgbClr val="00B05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65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のチャート：上昇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角丸四角形 3"/>
          <p:cNvSpPr/>
          <p:nvPr/>
        </p:nvSpPr>
        <p:spPr>
          <a:xfrm>
            <a:off x="971600" y="2924944"/>
            <a:ext cx="1080120" cy="20882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 18"/>
          <p:cNvSpPr/>
          <p:nvPr/>
        </p:nvSpPr>
        <p:spPr>
          <a:xfrm>
            <a:off x="2627784" y="1844823"/>
            <a:ext cx="837940" cy="23762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角丸四角形 19"/>
          <p:cNvSpPr/>
          <p:nvPr/>
        </p:nvSpPr>
        <p:spPr>
          <a:xfrm>
            <a:off x="13625" y="1772816"/>
            <a:ext cx="2753556" cy="590872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rgbClr val="FF0000"/>
                </a:solidFill>
              </a:rPr>
              <a:t>上昇</a:t>
            </a:r>
            <a:r>
              <a:rPr kumimoji="1" lang="ja-JP" altLang="en-US" dirty="0" smtClean="0">
                <a:solidFill>
                  <a:srgbClr val="FF0000"/>
                </a:solidFill>
              </a:rPr>
              <a:t>トレンド＝買い</a:t>
            </a:r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549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のチャート：下降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2" name="角丸四角形 21"/>
          <p:cNvSpPr/>
          <p:nvPr/>
        </p:nvSpPr>
        <p:spPr>
          <a:xfrm>
            <a:off x="73000" y="3911038"/>
            <a:ext cx="898600" cy="20382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角丸四角形 23"/>
          <p:cNvSpPr/>
          <p:nvPr/>
        </p:nvSpPr>
        <p:spPr>
          <a:xfrm>
            <a:off x="2106476" y="3516537"/>
            <a:ext cx="521308" cy="1352623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 25"/>
          <p:cNvSpPr/>
          <p:nvPr/>
        </p:nvSpPr>
        <p:spPr>
          <a:xfrm>
            <a:off x="4085196" y="2564904"/>
            <a:ext cx="1062868" cy="194421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角丸四角形 27"/>
          <p:cNvSpPr/>
          <p:nvPr/>
        </p:nvSpPr>
        <p:spPr>
          <a:xfrm>
            <a:off x="6766744" y="3284984"/>
            <a:ext cx="792088" cy="194421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角丸四角形 35"/>
          <p:cNvSpPr/>
          <p:nvPr/>
        </p:nvSpPr>
        <p:spPr>
          <a:xfrm>
            <a:off x="5652120" y="1772816"/>
            <a:ext cx="2736304" cy="59087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 smtClean="0">
                <a:solidFill>
                  <a:schemeClr val="accent1"/>
                </a:solidFill>
              </a:rPr>
              <a:t>下降トレンド＝売り</a:t>
            </a:r>
            <a:endParaRPr kumimoji="1"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 animBg="1"/>
      <p:bldP spid="28" grpId="0" animBg="1"/>
      <p:bldP spid="3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のチャート：レンジ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34" name="角丸四角形 33"/>
          <p:cNvSpPr/>
          <p:nvPr/>
        </p:nvSpPr>
        <p:spPr>
          <a:xfrm>
            <a:off x="3465724" y="1916832"/>
            <a:ext cx="619471" cy="1576329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角丸四角形 34"/>
          <p:cNvSpPr/>
          <p:nvPr/>
        </p:nvSpPr>
        <p:spPr>
          <a:xfrm>
            <a:off x="5148064" y="2852937"/>
            <a:ext cx="1584176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角丸四角形 36"/>
          <p:cNvSpPr/>
          <p:nvPr/>
        </p:nvSpPr>
        <p:spPr>
          <a:xfrm>
            <a:off x="3131840" y="5142384"/>
            <a:ext cx="2952328" cy="590872"/>
          </a:xfrm>
          <a:prstGeom prst="roundRect">
            <a:avLst/>
          </a:prstGeom>
          <a:solidFill>
            <a:schemeClr val="accent2">
              <a:lumMod val="20000"/>
              <a:lumOff val="80000"/>
              <a:alpha val="0"/>
            </a:schemeClr>
          </a:solidFill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>
                <a:solidFill>
                  <a:srgbClr val="00B050"/>
                </a:solidFill>
              </a:rPr>
              <a:t>レンジ＝買い</a:t>
            </a:r>
            <a:r>
              <a:rPr kumimoji="1" lang="en-US" altLang="ja-JP" dirty="0" smtClean="0">
                <a:solidFill>
                  <a:srgbClr val="00B050"/>
                </a:solidFill>
              </a:rPr>
              <a:t>or</a:t>
            </a:r>
            <a:r>
              <a:rPr kumimoji="1" lang="ja-JP" altLang="en-US" dirty="0" smtClean="0">
                <a:solidFill>
                  <a:srgbClr val="00B050"/>
                </a:solidFill>
              </a:rPr>
              <a:t>売り</a:t>
            </a:r>
            <a:endParaRPr kumimoji="1" lang="ja-JP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全体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を見ると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6" name="グループ化 5"/>
          <p:cNvGrpSpPr/>
          <p:nvPr/>
        </p:nvGrpSpPr>
        <p:grpSpPr>
          <a:xfrm>
            <a:off x="13625" y="1772816"/>
            <a:ext cx="8374799" cy="4176463"/>
            <a:chOff x="13625" y="1772816"/>
            <a:chExt cx="8374799" cy="4176463"/>
          </a:xfrm>
        </p:grpSpPr>
        <p:grpSp>
          <p:nvGrpSpPr>
            <p:cNvPr id="3" name="グループ化 2"/>
            <p:cNvGrpSpPr/>
            <p:nvPr/>
          </p:nvGrpSpPr>
          <p:grpSpPr>
            <a:xfrm>
              <a:off x="73000" y="1772816"/>
              <a:ext cx="8315424" cy="4176463"/>
              <a:chOff x="73000" y="1772816"/>
              <a:chExt cx="8315424" cy="4176463"/>
            </a:xfrm>
          </p:grpSpPr>
          <p:sp>
            <p:nvSpPr>
              <p:cNvPr id="22" name="角丸四角形 21"/>
              <p:cNvSpPr/>
              <p:nvPr/>
            </p:nvSpPr>
            <p:spPr>
              <a:xfrm>
                <a:off x="73000" y="3911038"/>
                <a:ext cx="898600" cy="2038241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角丸四角形 23"/>
              <p:cNvSpPr/>
              <p:nvPr/>
            </p:nvSpPr>
            <p:spPr>
              <a:xfrm>
                <a:off x="2106476" y="3516537"/>
                <a:ext cx="521308" cy="1352623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角丸四角形 25"/>
              <p:cNvSpPr/>
              <p:nvPr/>
            </p:nvSpPr>
            <p:spPr>
              <a:xfrm>
                <a:off x="4085196" y="2564904"/>
                <a:ext cx="1062868" cy="194421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角丸四角形 27"/>
              <p:cNvSpPr/>
              <p:nvPr/>
            </p:nvSpPr>
            <p:spPr>
              <a:xfrm>
                <a:off x="6766744" y="3284984"/>
                <a:ext cx="792088" cy="1944216"/>
              </a:xfrm>
              <a:prstGeom prst="roundRect">
                <a:avLst/>
              </a:prstGeom>
              <a:noFill/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角丸四角形 35"/>
              <p:cNvSpPr/>
              <p:nvPr/>
            </p:nvSpPr>
            <p:spPr>
              <a:xfrm>
                <a:off x="5652120" y="1772816"/>
                <a:ext cx="2736304" cy="59087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0"/>
                </a:schemeClr>
              </a:solidFill>
              <a:ln>
                <a:solidFill>
                  <a:schemeClr val="accent1"/>
                </a:solidFill>
              </a:ln>
              <a:effectLst>
                <a:glow rad="101600">
                  <a:schemeClr val="accent1"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 smtClean="0">
                    <a:solidFill>
                      <a:schemeClr val="accent1"/>
                    </a:solidFill>
                  </a:rPr>
                  <a:t>下降トレンド＝売り</a:t>
                </a:r>
                <a:endParaRPr kumimoji="1" lang="ja-JP" altLang="en-US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5" name="グループ化 4"/>
            <p:cNvGrpSpPr/>
            <p:nvPr/>
          </p:nvGrpSpPr>
          <p:grpSpPr>
            <a:xfrm>
              <a:off x="3131840" y="1916832"/>
              <a:ext cx="3600400" cy="3816424"/>
              <a:chOff x="3131840" y="1916832"/>
              <a:chExt cx="3600400" cy="3816424"/>
            </a:xfrm>
          </p:grpSpPr>
          <p:sp>
            <p:nvSpPr>
              <p:cNvPr id="34" name="角丸四角形 33"/>
              <p:cNvSpPr/>
              <p:nvPr/>
            </p:nvSpPr>
            <p:spPr>
              <a:xfrm>
                <a:off x="3465724" y="1916832"/>
                <a:ext cx="619471" cy="1576329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角丸四角形 34"/>
              <p:cNvSpPr/>
              <p:nvPr/>
            </p:nvSpPr>
            <p:spPr>
              <a:xfrm>
                <a:off x="5148064" y="2852937"/>
                <a:ext cx="1584176" cy="1368152"/>
              </a:xfrm>
              <a:prstGeom prst="roundRect">
                <a:avLst/>
              </a:prstGeom>
              <a:noFill/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7" name="角丸四角形 36"/>
              <p:cNvSpPr/>
              <p:nvPr/>
            </p:nvSpPr>
            <p:spPr>
              <a:xfrm>
                <a:off x="3131840" y="5142384"/>
                <a:ext cx="2952328" cy="590872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  <a:alpha val="0"/>
                </a:schemeClr>
              </a:solidFill>
              <a:ln>
                <a:solidFill>
                  <a:srgbClr val="00B050"/>
                </a:solidFill>
              </a:ln>
              <a:effectLst>
                <a:glow rad="101600">
                  <a:srgbClr val="00B050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dirty="0" smtClean="0">
                    <a:solidFill>
                      <a:srgbClr val="00B050"/>
                    </a:solidFill>
                  </a:rPr>
                  <a:t>レンジ＝買い</a:t>
                </a:r>
                <a:r>
                  <a:rPr kumimoji="1" lang="en-US" altLang="ja-JP" dirty="0" smtClean="0">
                    <a:solidFill>
                      <a:srgbClr val="00B050"/>
                    </a:solidFill>
                  </a:rPr>
                  <a:t>or</a:t>
                </a:r>
                <a:r>
                  <a:rPr kumimoji="1" lang="ja-JP" altLang="en-US" dirty="0" smtClean="0">
                    <a:solidFill>
                      <a:srgbClr val="00B050"/>
                    </a:solidFill>
                  </a:rPr>
                  <a:t>売り</a:t>
                </a:r>
                <a:endParaRPr kumimoji="1" lang="ja-JP" altLang="en-US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2" name="グループ化 1"/>
            <p:cNvGrpSpPr/>
            <p:nvPr/>
          </p:nvGrpSpPr>
          <p:grpSpPr>
            <a:xfrm>
              <a:off x="13625" y="1772816"/>
              <a:ext cx="3452099" cy="3240360"/>
              <a:chOff x="13625" y="1772816"/>
              <a:chExt cx="3452099" cy="3240360"/>
            </a:xfrm>
          </p:grpSpPr>
          <p:sp>
            <p:nvSpPr>
              <p:cNvPr id="4" name="角丸四角形 3"/>
              <p:cNvSpPr/>
              <p:nvPr/>
            </p:nvSpPr>
            <p:spPr>
              <a:xfrm>
                <a:off x="971600" y="2924944"/>
                <a:ext cx="1080120" cy="2088232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角丸四角形 18"/>
              <p:cNvSpPr/>
              <p:nvPr/>
            </p:nvSpPr>
            <p:spPr>
              <a:xfrm>
                <a:off x="2627784" y="1844823"/>
                <a:ext cx="837940" cy="2376265"/>
              </a:xfrm>
              <a:prstGeom prst="roundRect">
                <a:avLst/>
              </a:prstGeom>
              <a:noFill/>
              <a:ln>
                <a:solidFill>
                  <a:srgbClr val="FF0000"/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0" name="角丸四角形 19"/>
              <p:cNvSpPr/>
              <p:nvPr/>
            </p:nvSpPr>
            <p:spPr>
              <a:xfrm>
                <a:off x="13625" y="1772816"/>
                <a:ext cx="2753556" cy="590872"/>
              </a:xfrm>
              <a:prstGeom prst="roundRect">
                <a:avLst/>
              </a:prstGeom>
              <a:solidFill>
                <a:schemeClr val="bg1">
                  <a:alpha val="0"/>
                </a:schemeClr>
              </a:solidFill>
              <a:ln>
                <a:solidFill>
                  <a:srgbClr val="FF0000"/>
                </a:solidFill>
              </a:ln>
              <a:effectLst>
                <a:glow rad="101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dirty="0">
                    <a:solidFill>
                      <a:srgbClr val="FF0000"/>
                    </a:solidFill>
                  </a:rPr>
                  <a:t>上昇</a:t>
                </a:r>
                <a:r>
                  <a:rPr kumimoji="1" lang="ja-JP" altLang="en-US" dirty="0" smtClean="0">
                    <a:solidFill>
                      <a:srgbClr val="FF0000"/>
                    </a:solidFill>
                  </a:rPr>
                  <a:t>トレンド＝買い</a:t>
                </a:r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17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10891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長い足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から順番に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トレンド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判断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496944" cy="1384995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デイトレードの場合・・・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日足⇒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15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分足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324036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23528" y="3068960"/>
            <a:ext cx="8352928" cy="310854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長い足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(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日足・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時間足）で・・・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⇒大局的なトレンドを判断し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2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endParaRPr lang="en-US" altLang="ja-JP" sz="1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短い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足（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時間足・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15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分足）で・・・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⇒エントリーする方向を決める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591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610891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ワーク①：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トレンド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判断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496944" cy="153888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トレンドの種類は３つ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上昇／</a:t>
            </a:r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下降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／レンジ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2"/>
            <a:ext cx="8496944" cy="2503443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23528" y="3068960"/>
            <a:ext cx="8352928" cy="2431435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ミドルラインの使い方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①ミドルラインの傾き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②ミドルラインと足の関係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251520" y="5690858"/>
            <a:ext cx="8496944" cy="77989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323528" y="5762865"/>
            <a:ext cx="8352928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日足⇒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15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分足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4672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  <p:bldP spid="19" grpId="0" animBg="1"/>
      <p:bldP spid="20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Ⓐ</a:t>
            </a:r>
            <a:endParaRPr kumimoji="1" lang="ja-JP" altLang="en-US" sz="3200" b="1" dirty="0"/>
          </a:p>
        </p:txBody>
      </p:sp>
      <p:sp>
        <p:nvSpPr>
          <p:cNvPr id="13" name="角丸四角形 12"/>
          <p:cNvSpPr/>
          <p:nvPr/>
        </p:nvSpPr>
        <p:spPr>
          <a:xfrm>
            <a:off x="179512" y="571062"/>
            <a:ext cx="8136904" cy="559424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6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Ⓑ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323528" y="995536"/>
            <a:ext cx="2232248" cy="4773512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555776" y="3429000"/>
            <a:ext cx="648072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3203848" y="620688"/>
            <a:ext cx="1728192" cy="4048897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4976628" y="2285917"/>
            <a:ext cx="2475692" cy="39584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7452320" y="3463083"/>
            <a:ext cx="648072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68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Ⓒ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115616" y="1981311"/>
            <a:ext cx="2232248" cy="420681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3347864" y="3717032"/>
            <a:ext cx="1800200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5100" y="642790"/>
            <a:ext cx="874492" cy="26146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5146904" y="1786443"/>
            <a:ext cx="3169512" cy="26146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827584" y="1950122"/>
            <a:ext cx="360040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1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434"/>
            <a:ext cx="9144000" cy="6860342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Ⓓ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3491880" y="1576123"/>
            <a:ext cx="1584175" cy="1276813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5076055" y="1725484"/>
            <a:ext cx="504057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11452" y="764704"/>
            <a:ext cx="3480428" cy="352839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585703" y="309720"/>
            <a:ext cx="1290553" cy="209984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6876256" y="823742"/>
            <a:ext cx="1651376" cy="1881253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3491880" y="349662"/>
            <a:ext cx="5035752" cy="274397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456"/>
            <a:ext cx="9144000" cy="6880455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Ⓔ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4122700" y="2852936"/>
            <a:ext cx="2851306" cy="3152079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548680"/>
            <a:ext cx="4139952" cy="360040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6974006" y="4149080"/>
            <a:ext cx="1270402" cy="180020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 b="1" dirty="0" smtClean="0"/>
              <a:t>Ⓕ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187624" y="2636912"/>
            <a:ext cx="1080120" cy="20382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1556792"/>
            <a:ext cx="1187624" cy="186566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265548" y="476672"/>
            <a:ext cx="1874404" cy="294578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4139952" y="1556792"/>
            <a:ext cx="3960440" cy="4392488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Ⓖ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814282" y="2060848"/>
            <a:ext cx="1965630" cy="381642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3779912" y="3717032"/>
            <a:ext cx="2016224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-29492" y="1124744"/>
            <a:ext cx="1865187" cy="20882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770538" y="2215554"/>
            <a:ext cx="1865187" cy="22935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7635725" y="2348880"/>
            <a:ext cx="752699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20"/>
            <a:ext cx="9144000" cy="681848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Ⓗ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7236296" y="1556792"/>
            <a:ext cx="648072" cy="15841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627784" y="836712"/>
            <a:ext cx="4608512" cy="1944216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0" y="836712"/>
            <a:ext cx="2627784" cy="20882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7884368" y="836712"/>
            <a:ext cx="643264" cy="1944216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Ⓘ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2915816" y="1219215"/>
            <a:ext cx="3024336" cy="20382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3430226"/>
            <a:ext cx="539552" cy="251905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537356" y="764704"/>
            <a:ext cx="2378460" cy="439248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935347" y="476672"/>
            <a:ext cx="1372957" cy="2484276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7308304" y="989057"/>
            <a:ext cx="1080120" cy="1575847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 smtClean="0"/>
              <a:t>Ⓙ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3419872" y="2060848"/>
            <a:ext cx="1584176" cy="33843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5100" y="2031010"/>
            <a:ext cx="2242644" cy="283815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251900" y="476672"/>
            <a:ext cx="1167972" cy="316835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004048" y="1628800"/>
            <a:ext cx="1296144" cy="2664296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6284988" y="2679082"/>
            <a:ext cx="2242644" cy="197405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38"/>
            <a:ext cx="9144000" cy="681797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Ⓚ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619672" y="3068960"/>
            <a:ext cx="1800200" cy="2808312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2276872"/>
            <a:ext cx="899592" cy="273630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899592" y="548680"/>
            <a:ext cx="720080" cy="324036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3419872" y="2708920"/>
            <a:ext cx="1152128" cy="198022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4572000" y="3068960"/>
            <a:ext cx="3168352" cy="2232248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7740352" y="3699029"/>
            <a:ext cx="504056" cy="2146945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Ⓛ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7269474" y="2193855"/>
            <a:ext cx="1258158" cy="3251369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35496" y="764704"/>
            <a:ext cx="7200800" cy="265775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938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-36512" y="1268760"/>
            <a:ext cx="9180512" cy="309634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≪基礎編②≫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96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抵抗帯</a:t>
            </a:r>
            <a:r>
              <a:rPr lang="en-US" altLang="ja-JP" sz="9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2690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27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相場参加者が一番見ているものは？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496944" cy="110799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≪価格≫</a:t>
            </a:r>
            <a:endParaRPr lang="en-US" altLang="ja-JP" sz="6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780928"/>
            <a:ext cx="8496944" cy="367240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2852936"/>
            <a:ext cx="8640960" cy="3231654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・ストキャスを見ている人も・・・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・ＭＡＣＤを見ている人も・・・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・一目均衡表を見ている人も・・・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⇒全員が必ず見るのが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≪価格≫</a:t>
            </a:r>
            <a:endParaRPr lang="en-US" altLang="ja-JP" sz="6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9698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201100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意識される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≪価格≫とは？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496944" cy="1938992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例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）ドル円の現在の値段は幾らか？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例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）今日の高値／安値は幾らか？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⇒誰が見ても変わらない数字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3429000"/>
            <a:ext cx="8496944" cy="2872775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501008"/>
            <a:ext cx="8640960" cy="267765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皆が意識する価格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では・・・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⇒売買が集中する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皆が意識する価格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が分かれば・・・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⇒一方向に動くポイントが分かる！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93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grpSp>
        <p:nvGrpSpPr>
          <p:cNvPr id="2" name="グループ化 1"/>
          <p:cNvGrpSpPr/>
          <p:nvPr/>
        </p:nvGrpSpPr>
        <p:grpSpPr>
          <a:xfrm>
            <a:off x="-180528" y="1572558"/>
            <a:ext cx="8055371" cy="4561214"/>
            <a:chOff x="-180528" y="1572558"/>
            <a:chExt cx="8055371" cy="4561214"/>
          </a:xfrm>
        </p:grpSpPr>
        <p:sp>
          <p:nvSpPr>
            <p:cNvPr id="17" name="円/楕円 16"/>
            <p:cNvSpPr/>
            <p:nvPr/>
          </p:nvSpPr>
          <p:spPr>
            <a:xfrm>
              <a:off x="2643550" y="1572558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/>
          </p:nvSpPr>
          <p:spPr>
            <a:xfrm>
              <a:off x="1399456" y="2896369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円/楕円 18"/>
            <p:cNvSpPr/>
            <p:nvPr/>
          </p:nvSpPr>
          <p:spPr>
            <a:xfrm>
              <a:off x="-180528" y="3804520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/>
          </p:nvSpPr>
          <p:spPr>
            <a:xfrm>
              <a:off x="654993" y="5733256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円/楕円 21"/>
            <p:cNvSpPr/>
            <p:nvPr/>
          </p:nvSpPr>
          <p:spPr>
            <a:xfrm>
              <a:off x="1850976" y="4634086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円/楕円 22"/>
            <p:cNvSpPr/>
            <p:nvPr/>
          </p:nvSpPr>
          <p:spPr>
            <a:xfrm>
              <a:off x="3209181" y="3257317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円/楕円 23"/>
            <p:cNvSpPr/>
            <p:nvPr/>
          </p:nvSpPr>
          <p:spPr>
            <a:xfrm>
              <a:off x="5085581" y="2524428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円/楕円 26"/>
            <p:cNvSpPr/>
            <p:nvPr/>
          </p:nvSpPr>
          <p:spPr>
            <a:xfrm>
              <a:off x="4197871" y="4264521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円/楕円 27"/>
            <p:cNvSpPr/>
            <p:nvPr/>
          </p:nvSpPr>
          <p:spPr>
            <a:xfrm>
              <a:off x="5225033" y="4004778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円/楕円 28"/>
            <p:cNvSpPr/>
            <p:nvPr/>
          </p:nvSpPr>
          <p:spPr>
            <a:xfrm>
              <a:off x="6866731" y="5010771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385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36815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どうやって≪価格≫を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意識する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496944" cy="110799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ライン（水平線）を引く</a:t>
            </a:r>
            <a:endParaRPr lang="en-US" altLang="ja-JP" sz="6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996953"/>
            <a:ext cx="8496944" cy="172819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3068960"/>
            <a:ext cx="8640960" cy="206210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意識されて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いる価格帯にラインを引く</a:t>
            </a:r>
            <a:endParaRPr lang="en-US" altLang="ja-JP" sz="40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⇒ライン付近でトレードする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589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" name="直線コネクタ 2"/>
          <p:cNvCxnSpPr/>
          <p:nvPr/>
        </p:nvCxnSpPr>
        <p:spPr>
          <a:xfrm>
            <a:off x="-36511" y="19573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円/楕円 3"/>
          <p:cNvSpPr/>
          <p:nvPr/>
        </p:nvSpPr>
        <p:spPr>
          <a:xfrm>
            <a:off x="2643550" y="1572558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/>
          <p:cNvCxnSpPr/>
          <p:nvPr/>
        </p:nvCxnSpPr>
        <p:spPr>
          <a:xfrm>
            <a:off x="-36511" y="58772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円/楕円 25"/>
          <p:cNvSpPr/>
          <p:nvPr/>
        </p:nvSpPr>
        <p:spPr>
          <a:xfrm>
            <a:off x="683568" y="5736809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/>
          <p:cNvCxnSpPr/>
          <p:nvPr/>
        </p:nvCxnSpPr>
        <p:spPr>
          <a:xfrm>
            <a:off x="-36511" y="28934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円/楕円 27"/>
          <p:cNvSpPr/>
          <p:nvPr/>
        </p:nvSpPr>
        <p:spPr>
          <a:xfrm>
            <a:off x="5116532" y="2524428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/>
          <p:cNvCxnSpPr/>
          <p:nvPr/>
        </p:nvCxnSpPr>
        <p:spPr>
          <a:xfrm>
            <a:off x="-36511" y="505365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/楕円 29"/>
          <p:cNvSpPr/>
          <p:nvPr/>
        </p:nvSpPr>
        <p:spPr>
          <a:xfrm>
            <a:off x="6844724" y="5006354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/>
          <p:cNvCxnSpPr/>
          <p:nvPr/>
        </p:nvCxnSpPr>
        <p:spPr>
          <a:xfrm>
            <a:off x="-36511" y="432462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円/楕円 31"/>
          <p:cNvSpPr/>
          <p:nvPr/>
        </p:nvSpPr>
        <p:spPr>
          <a:xfrm>
            <a:off x="4220388" y="4261564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5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8" grpId="0" animBg="1"/>
      <p:bldP spid="30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-27384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340768"/>
            <a:ext cx="8496944" cy="345638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どこにラインを引くのか？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23528" y="1480716"/>
            <a:ext cx="8496944" cy="3046988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①高値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安値を意識する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②レンジの幅を意識する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③同じ値幅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半値を意識する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※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基本は、ヒゲの先に引く！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82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5134"/>
            <a:ext cx="9144001" cy="53382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" name="直線コネクタ 2"/>
          <p:cNvCxnSpPr/>
          <p:nvPr/>
        </p:nvCxnSpPr>
        <p:spPr>
          <a:xfrm>
            <a:off x="-36511" y="19573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円/楕円 3"/>
          <p:cNvSpPr/>
          <p:nvPr/>
        </p:nvSpPr>
        <p:spPr>
          <a:xfrm>
            <a:off x="2643550" y="1572558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/>
          <p:cNvCxnSpPr/>
          <p:nvPr/>
        </p:nvCxnSpPr>
        <p:spPr>
          <a:xfrm>
            <a:off x="-36511" y="58772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円/楕円 25"/>
          <p:cNvSpPr/>
          <p:nvPr/>
        </p:nvSpPr>
        <p:spPr>
          <a:xfrm>
            <a:off x="683568" y="5736809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/>
          <p:cNvCxnSpPr/>
          <p:nvPr/>
        </p:nvCxnSpPr>
        <p:spPr>
          <a:xfrm>
            <a:off x="-36511" y="28934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円/楕円 27"/>
          <p:cNvSpPr/>
          <p:nvPr/>
        </p:nvSpPr>
        <p:spPr>
          <a:xfrm>
            <a:off x="5116532" y="2524428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/>
          <p:cNvCxnSpPr/>
          <p:nvPr/>
        </p:nvCxnSpPr>
        <p:spPr>
          <a:xfrm>
            <a:off x="-36511" y="505365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円/楕円 29"/>
          <p:cNvSpPr/>
          <p:nvPr/>
        </p:nvSpPr>
        <p:spPr>
          <a:xfrm>
            <a:off x="6844724" y="5006354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/>
          <p:cNvCxnSpPr/>
          <p:nvPr/>
        </p:nvCxnSpPr>
        <p:spPr>
          <a:xfrm>
            <a:off x="-36511" y="432462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円/楕円 31"/>
          <p:cNvSpPr/>
          <p:nvPr/>
        </p:nvSpPr>
        <p:spPr>
          <a:xfrm>
            <a:off x="4220388" y="4261564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771781" y="1479877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 smtClean="0">
                <a:solidFill>
                  <a:srgbClr val="FF6600"/>
                </a:solidFill>
              </a:rPr>
              <a:t>高値</a:t>
            </a:r>
            <a:endParaRPr kumimoji="1" lang="ja-JP" altLang="en-US" sz="2800" b="1" dirty="0">
              <a:solidFill>
                <a:srgbClr val="FF6600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649759" y="5826576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rgbClr val="FF6600"/>
                </a:solidFill>
              </a:rPr>
              <a:t>安</a:t>
            </a:r>
            <a:r>
              <a:rPr kumimoji="1" lang="ja-JP" altLang="en-US" sz="2800" b="1" dirty="0" smtClean="0">
                <a:solidFill>
                  <a:srgbClr val="FF6600"/>
                </a:solidFill>
              </a:rPr>
              <a:t>値</a:t>
            </a:r>
            <a:endParaRPr kumimoji="1" lang="ja-JP" altLang="en-US" sz="2800" b="1" dirty="0">
              <a:solidFill>
                <a:srgbClr val="FF6600"/>
              </a:solidFill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107157" y="2442200"/>
            <a:ext cx="2209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 smtClean="0">
                <a:solidFill>
                  <a:srgbClr val="FF6600"/>
                </a:solidFill>
              </a:rPr>
              <a:t>レンジの上限</a:t>
            </a:r>
            <a:endParaRPr kumimoji="1" lang="ja-JP" altLang="en-US" sz="2800" b="1" dirty="0">
              <a:solidFill>
                <a:srgbClr val="FF6600"/>
              </a:solidFill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4788024" y="4254122"/>
            <a:ext cx="2209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 smtClean="0">
                <a:solidFill>
                  <a:srgbClr val="FF6600"/>
                </a:solidFill>
              </a:rPr>
              <a:t>レンジの下限</a:t>
            </a:r>
            <a:endParaRPr kumimoji="1" lang="en-US" altLang="ja-JP" sz="2800" b="1" dirty="0" smtClean="0">
              <a:solidFill>
                <a:srgbClr val="FF6600"/>
              </a:solidFill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5466183" y="5006354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rgbClr val="FF6600"/>
                </a:solidFill>
              </a:rPr>
              <a:t>半値</a:t>
            </a:r>
            <a:endParaRPr kumimoji="1" lang="en-US" altLang="ja-JP" sz="2800" b="1" dirty="0" smtClean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2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8" grpId="0" animBg="1"/>
      <p:bldP spid="30" grpId="0" animBg="1"/>
      <p:bldP spid="32" grpId="0" animBg="1"/>
      <p:bldP spid="2" grpId="0"/>
      <p:bldP spid="21" grpId="0"/>
      <p:bldP spid="22" grpId="0"/>
      <p:bldP spid="23" grpId="0"/>
      <p:bldP spid="2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084268"/>
            <a:ext cx="9144001" cy="533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別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cxnSp>
        <p:nvCxnSpPr>
          <p:cNvPr id="3" name="直線コネクタ 2"/>
          <p:cNvCxnSpPr/>
          <p:nvPr/>
        </p:nvCxnSpPr>
        <p:spPr>
          <a:xfrm>
            <a:off x="-36511" y="156573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円/楕円 3"/>
          <p:cNvSpPr/>
          <p:nvPr/>
        </p:nvSpPr>
        <p:spPr>
          <a:xfrm>
            <a:off x="1691680" y="1340768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/>
          <p:cNvCxnSpPr/>
          <p:nvPr/>
        </p:nvCxnSpPr>
        <p:spPr>
          <a:xfrm>
            <a:off x="-36511" y="575114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円/楕円 25"/>
          <p:cNvSpPr/>
          <p:nvPr/>
        </p:nvSpPr>
        <p:spPr>
          <a:xfrm>
            <a:off x="6628900" y="5689511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" name="直線コネクタ 26"/>
          <p:cNvCxnSpPr/>
          <p:nvPr/>
        </p:nvCxnSpPr>
        <p:spPr>
          <a:xfrm>
            <a:off x="-36511" y="458112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円/楕円 27"/>
          <p:cNvSpPr/>
          <p:nvPr/>
        </p:nvSpPr>
        <p:spPr>
          <a:xfrm>
            <a:off x="7722299" y="4212144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1" name="直線コネクタ 30"/>
          <p:cNvCxnSpPr/>
          <p:nvPr/>
        </p:nvCxnSpPr>
        <p:spPr>
          <a:xfrm>
            <a:off x="-36511" y="3008083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円/楕円 31"/>
          <p:cNvSpPr/>
          <p:nvPr/>
        </p:nvSpPr>
        <p:spPr>
          <a:xfrm>
            <a:off x="965493" y="2945019"/>
            <a:ext cx="1008112" cy="400516"/>
          </a:xfrm>
          <a:prstGeom prst="ellipse">
            <a:avLst/>
          </a:prstGeom>
          <a:noFill/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3059832" y="1085144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 smtClean="0">
                <a:solidFill>
                  <a:srgbClr val="FF6600"/>
                </a:solidFill>
              </a:rPr>
              <a:t>高値</a:t>
            </a:r>
            <a:endParaRPr kumimoji="1" lang="ja-JP" altLang="en-US" sz="2800" b="1" dirty="0">
              <a:solidFill>
                <a:srgbClr val="FF6600"/>
              </a:solidFill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01140" y="5691223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rgbClr val="FF6600"/>
                </a:solidFill>
              </a:rPr>
              <a:t>安</a:t>
            </a:r>
            <a:r>
              <a:rPr kumimoji="1" lang="ja-JP" altLang="en-US" sz="2800" b="1" dirty="0" smtClean="0">
                <a:solidFill>
                  <a:srgbClr val="FF6600"/>
                </a:solidFill>
              </a:rPr>
              <a:t>値</a:t>
            </a:r>
            <a:endParaRPr kumimoji="1" lang="ja-JP" altLang="en-US" sz="2800" b="1" dirty="0">
              <a:solidFill>
                <a:srgbClr val="FF6600"/>
              </a:solidFill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85255" y="4129916"/>
            <a:ext cx="427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 smtClean="0">
                <a:solidFill>
                  <a:srgbClr val="FF6600"/>
                </a:solidFill>
              </a:rPr>
              <a:t>レンジの上限かつ同じ値幅</a:t>
            </a:r>
            <a:endParaRPr kumimoji="1" lang="ja-JP" altLang="en-US" sz="2800" b="1" dirty="0">
              <a:solidFill>
                <a:srgbClr val="FF6600"/>
              </a:solidFill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829335" y="2937577"/>
            <a:ext cx="2209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rgbClr val="FF6600"/>
                </a:solidFill>
              </a:rPr>
              <a:t>レンジの下限</a:t>
            </a:r>
            <a:endParaRPr kumimoji="1" lang="en-US" altLang="ja-JP" sz="2800" b="1" dirty="0" smtClean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603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" grpId="0" animBg="1"/>
      <p:bldP spid="28" grpId="0" animBg="1"/>
      <p:bldP spid="32" grpId="0" animBg="1"/>
      <p:bldP spid="2" grpId="0"/>
      <p:bldP spid="21" grpId="0"/>
      <p:bldP spid="22" grpId="0"/>
      <p:bldP spid="23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-27384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268760"/>
            <a:ext cx="8496944" cy="392560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ワーク②：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抵抗帯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判断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23528" y="1408708"/>
            <a:ext cx="8496944" cy="3785652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①高値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安値を意識する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②レンジの幅を意識する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③同じ値幅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/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半値を意識する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※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基本は、ヒゲの先に引く！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※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分かり難い所は引かない！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5501666"/>
            <a:ext cx="8496944" cy="77989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23528" y="5573673"/>
            <a:ext cx="8352928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日足⇒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4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時間足⇒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15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分足</a:t>
            </a:r>
            <a:endParaRPr lang="en-US" altLang="ja-JP" sz="40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832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Ⓐ</a:t>
            </a:r>
            <a:endParaRPr kumimoji="1" lang="ja-JP" altLang="en-US" sz="3200" b="1" dirty="0"/>
          </a:p>
        </p:txBody>
      </p:sp>
      <p:sp>
        <p:nvSpPr>
          <p:cNvPr id="13" name="角丸四角形 12"/>
          <p:cNvSpPr/>
          <p:nvPr/>
        </p:nvSpPr>
        <p:spPr>
          <a:xfrm>
            <a:off x="179512" y="571062"/>
            <a:ext cx="8136904" cy="559424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-36511" y="6479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614788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24867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43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Ⓑ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323528" y="995536"/>
            <a:ext cx="2232248" cy="4773512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555776" y="3429000"/>
            <a:ext cx="648072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3203848" y="620688"/>
            <a:ext cx="1728192" cy="4048897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4976628" y="2285917"/>
            <a:ext cx="2475692" cy="39584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7452320" y="3463083"/>
            <a:ext cx="648072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107015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>
            <a:off x="-36511" y="58772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-36511" y="340170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43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Ⓒ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115616" y="1981311"/>
            <a:ext cx="2232248" cy="420681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3347864" y="3717032"/>
            <a:ext cx="1800200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5100" y="642790"/>
            <a:ext cx="874492" cy="26146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5146904" y="1786443"/>
            <a:ext cx="3169512" cy="26146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827584" y="1950122"/>
            <a:ext cx="360040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8367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-36511" y="602128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/>
          <p:cNvCxnSpPr/>
          <p:nvPr/>
        </p:nvCxnSpPr>
        <p:spPr>
          <a:xfrm>
            <a:off x="-36511" y="39194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>
            <a:off x="-36511" y="501694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/>
          <p:cNvCxnSpPr/>
          <p:nvPr/>
        </p:nvCxnSpPr>
        <p:spPr>
          <a:xfrm>
            <a:off x="-36511" y="220486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>
            <a:off x="-36511" y="3011887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77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434"/>
            <a:ext cx="9144000" cy="6860342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Ⓓ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3491880" y="1576123"/>
            <a:ext cx="1584175" cy="1276813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5076055" y="1725484"/>
            <a:ext cx="504057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11452" y="764704"/>
            <a:ext cx="3480428" cy="352839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585703" y="309720"/>
            <a:ext cx="1290553" cy="209984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6876256" y="823742"/>
            <a:ext cx="1651376" cy="1881253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3491880" y="349662"/>
            <a:ext cx="5035752" cy="274397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/>
          <p:cNvCxnSpPr/>
          <p:nvPr/>
        </p:nvCxnSpPr>
        <p:spPr>
          <a:xfrm>
            <a:off x="-36511" y="79576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-36511" y="380645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-36511" y="2636755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7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456"/>
            <a:ext cx="9144000" cy="6880455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Ⓔ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4122700" y="2852936"/>
            <a:ext cx="2851306" cy="3152079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548680"/>
            <a:ext cx="4139952" cy="360040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6974006" y="4149080"/>
            <a:ext cx="1270402" cy="180020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-36511" y="65175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571584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368973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5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 b="1" dirty="0" smtClean="0"/>
              <a:t>Ⓕ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187624" y="2636912"/>
            <a:ext cx="1080120" cy="20382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1556792"/>
            <a:ext cx="1187624" cy="186566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265548" y="476672"/>
            <a:ext cx="1874404" cy="294578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4139952" y="1556792"/>
            <a:ext cx="3960440" cy="4392488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8367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>
            <a:off x="-36511" y="587159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-36511" y="31819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98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Ⓖ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814282" y="2060848"/>
            <a:ext cx="1965630" cy="381642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3779912" y="3717032"/>
            <a:ext cx="2016224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-29492" y="1124744"/>
            <a:ext cx="1865187" cy="20882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770538" y="2215554"/>
            <a:ext cx="1865187" cy="2293565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7635725" y="2348880"/>
            <a:ext cx="752699" cy="1368152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15666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-36511" y="551723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-36511" y="379892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-36511" y="255125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-36511" y="3334165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6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20"/>
            <a:ext cx="9144000" cy="681848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Ⓗ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7236296" y="1556792"/>
            <a:ext cx="648072" cy="15841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627784" y="836712"/>
            <a:ext cx="4608512" cy="1944216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0" y="836712"/>
            <a:ext cx="2627784" cy="20882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7884368" y="836712"/>
            <a:ext cx="643264" cy="1944216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112474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>
            <a:off x="-36511" y="26773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51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Ⓘ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2915816" y="1219215"/>
            <a:ext cx="3024336" cy="2038241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3430226"/>
            <a:ext cx="539552" cy="251905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537356" y="764704"/>
            <a:ext cx="2378460" cy="4392488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935347" y="476672"/>
            <a:ext cx="1372957" cy="2484276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7308304" y="989057"/>
            <a:ext cx="1080120" cy="1575847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86777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-36511" y="551723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-36511" y="33155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-36511" y="233900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319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 smtClean="0"/>
              <a:t>Ⓙ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3419872" y="2060848"/>
            <a:ext cx="1584176" cy="338437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25100" y="2031010"/>
            <a:ext cx="2242644" cy="283815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2251900" y="476672"/>
            <a:ext cx="1167972" cy="316835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/>
          <p:cNvSpPr/>
          <p:nvPr/>
        </p:nvSpPr>
        <p:spPr>
          <a:xfrm>
            <a:off x="5004048" y="1628800"/>
            <a:ext cx="1296144" cy="2664296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6284988" y="2679082"/>
            <a:ext cx="2242644" cy="197405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/>
          <p:cNvCxnSpPr/>
          <p:nvPr/>
        </p:nvCxnSpPr>
        <p:spPr>
          <a:xfrm>
            <a:off x="-36511" y="88519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-36511" y="501317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-36511" y="210179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-36511" y="423850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-36511" y="31583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23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38"/>
            <a:ext cx="9144000" cy="681797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Ⓚ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1619672" y="3068960"/>
            <a:ext cx="1800200" cy="2808312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0" y="2276872"/>
            <a:ext cx="899592" cy="2736304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/>
          <p:cNvSpPr/>
          <p:nvPr/>
        </p:nvSpPr>
        <p:spPr>
          <a:xfrm>
            <a:off x="899592" y="548680"/>
            <a:ext cx="720080" cy="324036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3419872" y="2708920"/>
            <a:ext cx="1152128" cy="198022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4572000" y="3068960"/>
            <a:ext cx="3168352" cy="2232248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7740352" y="3699029"/>
            <a:ext cx="504056" cy="2146945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/>
          <p:cNvCxnSpPr/>
          <p:nvPr/>
        </p:nvCxnSpPr>
        <p:spPr>
          <a:xfrm>
            <a:off x="-36511" y="92613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/>
          <p:cNvCxnSpPr/>
          <p:nvPr/>
        </p:nvCxnSpPr>
        <p:spPr>
          <a:xfrm>
            <a:off x="-36511" y="558924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/>
          <p:cNvCxnSpPr/>
          <p:nvPr/>
        </p:nvCxnSpPr>
        <p:spPr>
          <a:xfrm>
            <a:off x="-36511" y="321297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994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44908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Ⓛ</a:t>
            </a:r>
            <a:endParaRPr kumimoji="1" lang="ja-JP" altLang="en-US" sz="3200" b="1" dirty="0"/>
          </a:p>
        </p:txBody>
      </p:sp>
      <p:sp>
        <p:nvSpPr>
          <p:cNvPr id="4" name="角丸四角形 3"/>
          <p:cNvSpPr/>
          <p:nvPr/>
        </p:nvSpPr>
        <p:spPr>
          <a:xfrm>
            <a:off x="7269474" y="2193855"/>
            <a:ext cx="1258158" cy="3251369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角丸四角形 5"/>
          <p:cNvSpPr/>
          <p:nvPr/>
        </p:nvSpPr>
        <p:spPr>
          <a:xfrm>
            <a:off x="35496" y="764704"/>
            <a:ext cx="7200800" cy="2657750"/>
          </a:xfrm>
          <a:prstGeom prst="roundRect">
            <a:avLst/>
          </a:prstGeom>
          <a:noFill/>
          <a:ln>
            <a:solidFill>
              <a:srgbClr val="00B050"/>
            </a:solidFill>
          </a:ln>
          <a:effectLst>
            <a:glow rad="101600">
              <a:srgbClr val="00B05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-36511" y="126876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49585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314096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00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462132"/>
            <a:ext cx="8496944" cy="3118996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でも、これ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だけで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は勝てない！！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534140"/>
            <a:ext cx="8496944" cy="3046988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意識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されてるラインは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値動きが活発になるが、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勝つ為には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ブレイク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か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反発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の判断が重要！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2428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ライントレード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3</a:t>
            </a:r>
            <a:r>
              <a:rPr lang="ja-JP" altLang="en-US" sz="5400" kern="0" dirty="0" err="1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つの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スタイル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0407"/>
            <a:ext cx="9144000" cy="4625075"/>
          </a:xfrm>
          <a:prstGeom prst="rect">
            <a:avLst/>
          </a:prstGeom>
        </p:spPr>
      </p:pic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-36512" y="5502201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⇒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ブレイク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エントリー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攻略法は？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964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-36511" y="0"/>
            <a:ext cx="9180512" cy="6858000"/>
          </a:xfrm>
          <a:prstGeom prst="rect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 bwMode="auto">
          <a:xfrm>
            <a:off x="-36512" y="1556792"/>
            <a:ext cx="9180512" cy="2664296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l"/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　　　～ブレイクエントリーで　　　　　　　　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l"/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　　　　　　　　一番</a:t>
            </a:r>
            <a:r>
              <a:rPr lang="ja-JP" altLang="en-US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大切</a:t>
            </a:r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な発想～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l"/>
            <a:endParaRPr lang="en-US" altLang="ja-JP" sz="1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  <a:p>
            <a:pPr algn="ctr"/>
            <a:r>
              <a:rPr lang="en-US" altLang="ja-JP" sz="8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8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レンジブレイク</a:t>
            </a:r>
            <a:r>
              <a:rPr lang="en-US" altLang="ja-JP" sz="8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9821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2167686"/>
            <a:ext cx="8496944" cy="164166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ブレイクの基本的な考え方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2239694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エネルギーが貯まった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後の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破裂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を狙うのが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ブレイク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</p:txBody>
      </p:sp>
      <p:sp>
        <p:nvSpPr>
          <p:cNvPr id="19" name="角丸四角形 18"/>
          <p:cNvSpPr/>
          <p:nvPr/>
        </p:nvSpPr>
        <p:spPr>
          <a:xfrm>
            <a:off x="251520" y="4000996"/>
            <a:ext cx="8496944" cy="238033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1520" y="4073004"/>
            <a:ext cx="8496944" cy="2308324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レンジ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の幅が狭くて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レンジの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時間が長いほど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エネルギー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貯まる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</p:txBody>
      </p:sp>
      <p:sp>
        <p:nvSpPr>
          <p:cNvPr id="17" name="角丸四角形 16"/>
          <p:cNvSpPr/>
          <p:nvPr/>
        </p:nvSpPr>
        <p:spPr>
          <a:xfrm>
            <a:off x="251520" y="1147391"/>
            <a:ext cx="8496944" cy="841449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1219399"/>
            <a:ext cx="8496944" cy="769441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相場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は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収縮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破裂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を繰り返す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836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9" grpId="0" animBg="1"/>
      <p:bldP spid="20" grpId="0" uiExpand="1" build="p"/>
      <p:bldP spid="17" grpId="0" animBg="1"/>
      <p:bldP spid="18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196752"/>
            <a:ext cx="8496944" cy="1224136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ブレイクし易い</a:t>
            </a:r>
            <a:r>
              <a:rPr lang="en-US" altLang="ja-JP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レンジ</a:t>
            </a:r>
            <a:r>
              <a:rPr lang="en-US" altLang="ja-JP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発見ツール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496944" cy="1015663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ボリンジャーバンド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±</a:t>
            </a:r>
            <a:r>
              <a:rPr lang="ja-JP" altLang="en-US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２</a:t>
            </a:r>
            <a:r>
              <a:rPr lang="en-US" altLang="ja-JP" sz="6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σ</a:t>
            </a:r>
          </a:p>
        </p:txBody>
      </p:sp>
      <p:sp>
        <p:nvSpPr>
          <p:cNvPr id="19" name="角丸四角形 18"/>
          <p:cNvSpPr/>
          <p:nvPr/>
        </p:nvSpPr>
        <p:spPr>
          <a:xfrm>
            <a:off x="251520" y="2708920"/>
            <a:ext cx="8496944" cy="172819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1520" y="2780928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ボリンジャーバンドが収縮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⇒エネルギーが貯まっている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4653136"/>
            <a:ext cx="8496944" cy="172819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4725144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ボリンジャーバンドが拡大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⇒エネルギーを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破裂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した後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11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9" grpId="0" animBg="1"/>
      <p:bldP spid="20" grpId="0" build="p"/>
      <p:bldP spid="17" grpId="0" animBg="1"/>
      <p:bldP spid="18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276"/>
            <a:ext cx="9144001" cy="525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角丸四角形 17"/>
          <p:cNvSpPr/>
          <p:nvPr/>
        </p:nvSpPr>
        <p:spPr>
          <a:xfrm>
            <a:off x="3648974" y="2564904"/>
            <a:ext cx="1571098" cy="1188133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角丸四角形 20"/>
          <p:cNvSpPr/>
          <p:nvPr/>
        </p:nvSpPr>
        <p:spPr>
          <a:xfrm>
            <a:off x="3995936" y="1484784"/>
            <a:ext cx="4320480" cy="936104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 smtClean="0">
                <a:solidFill>
                  <a:srgbClr val="FF0000"/>
                </a:solidFill>
              </a:rPr>
              <a:t>ボリンジャーバンドが収縮</a:t>
            </a:r>
            <a:endParaRPr lang="en-US" altLang="ja-JP" sz="2800" b="1" dirty="0" smtClean="0">
              <a:solidFill>
                <a:srgbClr val="FF0000"/>
              </a:solidFill>
            </a:endParaRPr>
          </a:p>
          <a:p>
            <a:pPr algn="ctr"/>
            <a:r>
              <a:rPr lang="ja-JP" altLang="en-US" sz="2800" b="1" dirty="0" smtClean="0">
                <a:solidFill>
                  <a:srgbClr val="FF0000"/>
                </a:solidFill>
              </a:rPr>
              <a:t>：エネルギー貯まっている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5796136" y="3429000"/>
            <a:ext cx="1571098" cy="1224136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角丸四角形 22"/>
          <p:cNvSpPr/>
          <p:nvPr/>
        </p:nvSpPr>
        <p:spPr>
          <a:xfrm>
            <a:off x="1475656" y="1939188"/>
            <a:ext cx="1571098" cy="1188133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913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1" grpId="0" animBg="1"/>
      <p:bldP spid="22" grpId="0" animBg="1"/>
      <p:bldP spid="2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276"/>
            <a:ext cx="9144001" cy="525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角丸四角形 17"/>
          <p:cNvSpPr/>
          <p:nvPr/>
        </p:nvSpPr>
        <p:spPr>
          <a:xfrm>
            <a:off x="2555776" y="1844824"/>
            <a:ext cx="1571098" cy="219624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角丸四角形 21"/>
          <p:cNvSpPr/>
          <p:nvPr/>
        </p:nvSpPr>
        <p:spPr>
          <a:xfrm>
            <a:off x="4743312" y="2352648"/>
            <a:ext cx="1571098" cy="266429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角丸四角形 18"/>
          <p:cNvSpPr/>
          <p:nvPr/>
        </p:nvSpPr>
        <p:spPr>
          <a:xfrm>
            <a:off x="179512" y="4725144"/>
            <a:ext cx="4320480" cy="936104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 smtClean="0">
                <a:solidFill>
                  <a:schemeClr val="accent1"/>
                </a:solidFill>
              </a:rPr>
              <a:t>ボリンジャーバンドが拡大</a:t>
            </a:r>
            <a:endParaRPr lang="en-US" altLang="ja-JP" sz="2800" b="1" dirty="0" smtClean="0">
              <a:solidFill>
                <a:schemeClr val="accent1"/>
              </a:solidFill>
            </a:endParaRPr>
          </a:p>
          <a:p>
            <a:pPr algn="ctr"/>
            <a:r>
              <a:rPr lang="ja-JP" altLang="en-US" sz="2800" b="1" dirty="0" smtClean="0">
                <a:solidFill>
                  <a:schemeClr val="accent1"/>
                </a:solidFill>
              </a:rPr>
              <a:t>：エネルギーを</a:t>
            </a:r>
            <a:r>
              <a:rPr lang="ja-JP" altLang="en-US" sz="2800" b="1" dirty="0">
                <a:solidFill>
                  <a:schemeClr val="accent1"/>
                </a:solidFill>
              </a:rPr>
              <a:t>破裂</a:t>
            </a:r>
            <a:r>
              <a:rPr lang="ja-JP" altLang="en-US" sz="2800" b="1" dirty="0" smtClean="0">
                <a:solidFill>
                  <a:schemeClr val="accent1"/>
                </a:solidFill>
              </a:rPr>
              <a:t>した後</a:t>
            </a:r>
            <a:endParaRPr kumimoji="1" lang="ja-JP" altLang="en-US" sz="2800" b="1" dirty="0">
              <a:solidFill>
                <a:schemeClr val="accent1"/>
              </a:solidFill>
            </a:endParaRPr>
          </a:p>
        </p:txBody>
      </p:sp>
      <p:sp>
        <p:nvSpPr>
          <p:cNvPr id="20" name="角丸四角形 19"/>
          <p:cNvSpPr/>
          <p:nvPr/>
        </p:nvSpPr>
        <p:spPr>
          <a:xfrm>
            <a:off x="6907320" y="3131767"/>
            <a:ext cx="1683480" cy="2664296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角丸四角形 23"/>
          <p:cNvSpPr/>
          <p:nvPr/>
        </p:nvSpPr>
        <p:spPr>
          <a:xfrm>
            <a:off x="107504" y="1844824"/>
            <a:ext cx="1656184" cy="2196244"/>
          </a:xfrm>
          <a:prstGeom prst="roundRect">
            <a:avLst/>
          </a:prstGeom>
          <a:noFill/>
          <a:ln>
            <a:solidFill>
              <a:schemeClr val="accent1"/>
            </a:solidFill>
          </a:ln>
          <a:effectLst>
            <a:glow rad="101600">
              <a:schemeClr val="accent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81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19" grpId="0" animBg="1"/>
      <p:bldP spid="20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ブレーク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で狙うのは・・・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276"/>
            <a:ext cx="9144001" cy="525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グループ化 2"/>
          <p:cNvGrpSpPr/>
          <p:nvPr/>
        </p:nvGrpSpPr>
        <p:grpSpPr>
          <a:xfrm>
            <a:off x="1475656" y="1484784"/>
            <a:ext cx="6840760" cy="3168352"/>
            <a:chOff x="1475656" y="1484784"/>
            <a:chExt cx="6840760" cy="3168352"/>
          </a:xfrm>
        </p:grpSpPr>
        <p:sp>
          <p:nvSpPr>
            <p:cNvPr id="18" name="角丸四角形 17"/>
            <p:cNvSpPr/>
            <p:nvPr/>
          </p:nvSpPr>
          <p:spPr>
            <a:xfrm>
              <a:off x="3648974" y="2564904"/>
              <a:ext cx="1571098" cy="118813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角丸四角形 20"/>
            <p:cNvSpPr/>
            <p:nvPr/>
          </p:nvSpPr>
          <p:spPr>
            <a:xfrm>
              <a:off x="3995936" y="1484784"/>
              <a:ext cx="4320480" cy="936104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rgbClr val="FF0000"/>
                  </a:solidFill>
                </a:rPr>
                <a:t>ボリンジャーバンドが収縮</a:t>
              </a:r>
              <a:endParaRPr lang="en-US" altLang="ja-JP" sz="2800" b="1" dirty="0" smtClean="0">
                <a:solidFill>
                  <a:srgbClr val="FF0000"/>
                </a:solidFill>
              </a:endParaRPr>
            </a:p>
            <a:p>
              <a:pPr algn="ctr"/>
              <a:r>
                <a:rPr lang="ja-JP" altLang="en-US" sz="2800" b="1" dirty="0" smtClean="0">
                  <a:solidFill>
                    <a:srgbClr val="FF0000"/>
                  </a:solidFill>
                </a:rPr>
                <a:t>：エネルギー貯まっている</a:t>
              </a:r>
              <a:endParaRPr kumimoji="1" lang="ja-JP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22" name="角丸四角形 21"/>
            <p:cNvSpPr/>
            <p:nvPr/>
          </p:nvSpPr>
          <p:spPr>
            <a:xfrm>
              <a:off x="5796136" y="3429000"/>
              <a:ext cx="1571098" cy="1224136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角丸四角形 22"/>
            <p:cNvSpPr/>
            <p:nvPr/>
          </p:nvSpPr>
          <p:spPr>
            <a:xfrm>
              <a:off x="1475656" y="1939188"/>
              <a:ext cx="1571098" cy="118813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107504" y="1844824"/>
            <a:ext cx="8483296" cy="3951239"/>
            <a:chOff x="107504" y="1844824"/>
            <a:chExt cx="8483296" cy="3951239"/>
          </a:xfrm>
        </p:grpSpPr>
        <p:sp>
          <p:nvSpPr>
            <p:cNvPr id="19" name="角丸四角形 18"/>
            <p:cNvSpPr/>
            <p:nvPr/>
          </p:nvSpPr>
          <p:spPr>
            <a:xfrm>
              <a:off x="2555776" y="1844824"/>
              <a:ext cx="1571098" cy="219624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角丸四角形 19"/>
            <p:cNvSpPr/>
            <p:nvPr/>
          </p:nvSpPr>
          <p:spPr>
            <a:xfrm>
              <a:off x="4743312" y="2352648"/>
              <a:ext cx="1571098" cy="2664296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角丸四角形 23"/>
            <p:cNvSpPr/>
            <p:nvPr/>
          </p:nvSpPr>
          <p:spPr>
            <a:xfrm>
              <a:off x="179512" y="4725144"/>
              <a:ext cx="4320480" cy="936104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chemeClr val="accent1"/>
                  </a:solidFill>
                </a:rPr>
                <a:t>ボリンジャーバンドが拡大</a:t>
              </a:r>
              <a:endParaRPr lang="en-US" altLang="ja-JP" sz="2800" b="1" dirty="0" smtClean="0">
                <a:solidFill>
                  <a:schemeClr val="accent1"/>
                </a:solidFill>
              </a:endParaRPr>
            </a:p>
            <a:p>
              <a:pPr algn="ctr"/>
              <a:r>
                <a:rPr lang="ja-JP" altLang="en-US" sz="2800" b="1" dirty="0" smtClean="0">
                  <a:solidFill>
                    <a:schemeClr val="accent1"/>
                  </a:solidFill>
                </a:rPr>
                <a:t>：エネルギーを</a:t>
              </a:r>
              <a:r>
                <a:rPr lang="ja-JP" altLang="en-US" sz="2800" b="1" dirty="0">
                  <a:solidFill>
                    <a:schemeClr val="accent1"/>
                  </a:solidFill>
                </a:rPr>
                <a:t>破裂</a:t>
              </a:r>
              <a:r>
                <a:rPr lang="ja-JP" altLang="en-US" sz="2800" b="1" dirty="0" smtClean="0">
                  <a:solidFill>
                    <a:schemeClr val="accent1"/>
                  </a:solidFill>
                </a:rPr>
                <a:t>した後</a:t>
              </a:r>
              <a:endParaRPr kumimoji="1" lang="ja-JP" altLang="en-US" sz="2800" b="1" dirty="0">
                <a:solidFill>
                  <a:schemeClr val="accent1"/>
                </a:solidFill>
              </a:endParaRPr>
            </a:p>
          </p:txBody>
        </p:sp>
        <p:sp>
          <p:nvSpPr>
            <p:cNvPr id="25" name="角丸四角形 24"/>
            <p:cNvSpPr/>
            <p:nvPr/>
          </p:nvSpPr>
          <p:spPr>
            <a:xfrm>
              <a:off x="6907320" y="3131767"/>
              <a:ext cx="1683480" cy="2664296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角丸四角形 25"/>
            <p:cNvSpPr/>
            <p:nvPr/>
          </p:nvSpPr>
          <p:spPr>
            <a:xfrm>
              <a:off x="107504" y="1844824"/>
              <a:ext cx="1656184" cy="2196244"/>
            </a:xfrm>
            <a:prstGeom prst="roundRect">
              <a:avLst/>
            </a:prstGeom>
            <a:noFill/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0852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0" y="983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268760"/>
            <a:ext cx="8496944" cy="108012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具体的にどうやって狙って行くか？</a:t>
            </a:r>
            <a:endParaRPr lang="en-US" altLang="ja-JP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63415"/>
            <a:ext cx="8496944" cy="769441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①ボリンジャーバンド収縮を確認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9" name="角丸四角形 18"/>
          <p:cNvSpPr/>
          <p:nvPr/>
        </p:nvSpPr>
        <p:spPr>
          <a:xfrm>
            <a:off x="251520" y="2780928"/>
            <a:ext cx="8496944" cy="100811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1520" y="2852936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②レジサポを引く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4221088"/>
            <a:ext cx="8496944" cy="172819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4293096"/>
            <a:ext cx="8496944" cy="156966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③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レジサポを抜けたらエントリー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 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   手動　</a:t>
            </a:r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又は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IFD(OCO)</a:t>
            </a:r>
          </a:p>
        </p:txBody>
      </p:sp>
    </p:spTree>
    <p:extLst>
      <p:ext uri="{BB962C8B-B14F-4D97-AF65-F5344CB8AC3E}">
        <p14:creationId xmlns:p14="http://schemas.microsoft.com/office/powerpoint/2010/main" val="358228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9" grpId="0" animBg="1"/>
      <p:bldP spid="20" grpId="0" build="p"/>
      <p:bldP spid="21" grpId="0" animBg="1"/>
      <p:bldP spid="22" grpId="0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276"/>
            <a:ext cx="9144001" cy="525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グループ化 5"/>
          <p:cNvGrpSpPr/>
          <p:nvPr/>
        </p:nvGrpSpPr>
        <p:grpSpPr>
          <a:xfrm>
            <a:off x="3131840" y="1484784"/>
            <a:ext cx="5184576" cy="2268253"/>
            <a:chOff x="3131840" y="1484784"/>
            <a:chExt cx="5184576" cy="2268253"/>
          </a:xfrm>
        </p:grpSpPr>
        <p:sp>
          <p:nvSpPr>
            <p:cNvPr id="28" name="角丸四角形 27"/>
            <p:cNvSpPr/>
            <p:nvPr/>
          </p:nvSpPr>
          <p:spPr>
            <a:xfrm>
              <a:off x="3779912" y="2564904"/>
              <a:ext cx="1440160" cy="118813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角丸四角形 28"/>
            <p:cNvSpPr/>
            <p:nvPr/>
          </p:nvSpPr>
          <p:spPr>
            <a:xfrm>
              <a:off x="3131840" y="1484784"/>
              <a:ext cx="5184576" cy="648072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rgbClr val="FF0000"/>
                  </a:solidFill>
                </a:rPr>
                <a:t>①ボリンジャーバンド収縮を確認</a:t>
              </a:r>
              <a:endParaRPr lang="en-US" altLang="ja-JP" sz="2800" b="1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グループ化 6"/>
          <p:cNvGrpSpPr/>
          <p:nvPr/>
        </p:nvGrpSpPr>
        <p:grpSpPr>
          <a:xfrm>
            <a:off x="-36511" y="2385050"/>
            <a:ext cx="9180512" cy="2484110"/>
            <a:chOff x="-36511" y="2385050"/>
            <a:chExt cx="9180512" cy="2484110"/>
          </a:xfrm>
        </p:grpSpPr>
        <p:grpSp>
          <p:nvGrpSpPr>
            <p:cNvPr id="5" name="グループ化 4"/>
            <p:cNvGrpSpPr/>
            <p:nvPr/>
          </p:nvGrpSpPr>
          <p:grpSpPr>
            <a:xfrm>
              <a:off x="-36511" y="2385050"/>
              <a:ext cx="9180512" cy="523220"/>
              <a:chOff x="-36511" y="2385050"/>
              <a:chExt cx="9180512" cy="523220"/>
            </a:xfrm>
          </p:grpSpPr>
          <p:cxnSp>
            <p:nvCxnSpPr>
              <p:cNvPr id="33" name="直線コネクタ 32"/>
              <p:cNvCxnSpPr/>
              <p:nvPr/>
            </p:nvCxnSpPr>
            <p:spPr>
              <a:xfrm>
                <a:off x="-36511" y="2836262"/>
                <a:ext cx="9180512" cy="0"/>
              </a:xfrm>
              <a:prstGeom prst="line">
                <a:avLst/>
              </a:prstGeom>
              <a:ln w="285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円/楕円 33"/>
              <p:cNvSpPr/>
              <p:nvPr/>
            </p:nvSpPr>
            <p:spPr>
              <a:xfrm>
                <a:off x="3203848" y="2467278"/>
                <a:ext cx="1008112" cy="400516"/>
              </a:xfrm>
              <a:prstGeom prst="ellipse">
                <a:avLst/>
              </a:prstGeom>
              <a:noFill/>
              <a:ln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テキスト ボックス 34"/>
              <p:cNvSpPr txBox="1"/>
              <p:nvPr/>
            </p:nvSpPr>
            <p:spPr>
              <a:xfrm>
                <a:off x="5292080" y="2385050"/>
                <a:ext cx="29546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b="1" dirty="0" smtClean="0">
                    <a:solidFill>
                      <a:srgbClr val="FF6600"/>
                    </a:solidFill>
                  </a:rPr>
                  <a:t>レジスタンスライン</a:t>
                </a:r>
                <a:endParaRPr kumimoji="1" lang="en-US" altLang="ja-JP" sz="2800" b="1" dirty="0" smtClean="0">
                  <a:solidFill>
                    <a:srgbClr val="FF6600"/>
                  </a:solidFill>
                </a:endParaRPr>
              </a:p>
            </p:txBody>
          </p:sp>
        </p:grpSp>
        <p:grpSp>
          <p:nvGrpSpPr>
            <p:cNvPr id="4" name="グループ化 3"/>
            <p:cNvGrpSpPr/>
            <p:nvPr/>
          </p:nvGrpSpPr>
          <p:grpSpPr>
            <a:xfrm>
              <a:off x="-36511" y="3429000"/>
              <a:ext cx="9180512" cy="523220"/>
              <a:chOff x="-36511" y="3429000"/>
              <a:chExt cx="9180512" cy="523220"/>
            </a:xfrm>
          </p:grpSpPr>
          <p:cxnSp>
            <p:nvCxnSpPr>
              <p:cNvPr id="37" name="直線コネクタ 36"/>
              <p:cNvCxnSpPr/>
              <p:nvPr/>
            </p:nvCxnSpPr>
            <p:spPr>
              <a:xfrm>
                <a:off x="-36511" y="3499506"/>
                <a:ext cx="9180512" cy="0"/>
              </a:xfrm>
              <a:prstGeom prst="line">
                <a:avLst/>
              </a:prstGeom>
              <a:ln w="28575">
                <a:solidFill>
                  <a:srgbClr val="FF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円/楕円 37"/>
              <p:cNvSpPr/>
              <p:nvPr/>
            </p:nvSpPr>
            <p:spPr>
              <a:xfrm>
                <a:off x="3184798" y="3436442"/>
                <a:ext cx="1008112" cy="400516"/>
              </a:xfrm>
              <a:prstGeom prst="ellipse">
                <a:avLst/>
              </a:prstGeom>
              <a:noFill/>
              <a:ln>
                <a:solidFill>
                  <a:srgbClr val="FF99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9" name="テキスト ボックス 38"/>
              <p:cNvSpPr txBox="1"/>
              <p:nvPr/>
            </p:nvSpPr>
            <p:spPr>
              <a:xfrm>
                <a:off x="971600" y="3429000"/>
                <a:ext cx="23695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800" b="1" dirty="0" smtClean="0">
                    <a:solidFill>
                      <a:srgbClr val="FF6600"/>
                    </a:solidFill>
                  </a:rPr>
                  <a:t>サポートライン</a:t>
                </a:r>
                <a:endParaRPr kumimoji="1" lang="en-US" altLang="ja-JP" sz="2800" b="1" dirty="0" smtClean="0">
                  <a:solidFill>
                    <a:srgbClr val="FF6600"/>
                  </a:solidFill>
                </a:endParaRPr>
              </a:p>
            </p:txBody>
          </p:sp>
        </p:grpSp>
        <p:sp>
          <p:nvSpPr>
            <p:cNvPr id="40" name="角丸四角形 39"/>
            <p:cNvSpPr/>
            <p:nvPr/>
          </p:nvSpPr>
          <p:spPr>
            <a:xfrm>
              <a:off x="107504" y="4221088"/>
              <a:ext cx="4085406" cy="648072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6600"/>
              </a:solidFill>
            </a:ln>
            <a:effectLst>
              <a:glow rad="101600">
                <a:srgbClr val="FF66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rgbClr val="FF6600"/>
                  </a:solidFill>
                </a:rPr>
                <a:t>②レジサポラインを引く</a:t>
              </a:r>
              <a:endParaRPr lang="en-US" altLang="ja-JP" sz="2800" b="1" dirty="0" smtClean="0">
                <a:solidFill>
                  <a:srgbClr val="FF6600"/>
                </a:solidFill>
              </a:endParaRPr>
            </a:p>
          </p:txBody>
        </p:sp>
      </p:grpSp>
      <p:grpSp>
        <p:nvGrpSpPr>
          <p:cNvPr id="54" name="グループ化 53"/>
          <p:cNvGrpSpPr/>
          <p:nvPr/>
        </p:nvGrpSpPr>
        <p:grpSpPr>
          <a:xfrm>
            <a:off x="179512" y="3356992"/>
            <a:ext cx="5184576" cy="2448272"/>
            <a:chOff x="179512" y="3356992"/>
            <a:chExt cx="5184576" cy="2448272"/>
          </a:xfrm>
        </p:grpSpPr>
        <p:sp>
          <p:nvSpPr>
            <p:cNvPr id="8" name="円/楕円 7"/>
            <p:cNvSpPr/>
            <p:nvPr/>
          </p:nvSpPr>
          <p:spPr>
            <a:xfrm>
              <a:off x="4795340" y="3356992"/>
              <a:ext cx="432048" cy="432048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下矢印 8"/>
            <p:cNvSpPr/>
            <p:nvPr/>
          </p:nvSpPr>
          <p:spPr>
            <a:xfrm>
              <a:off x="4644008" y="3564692"/>
              <a:ext cx="144016" cy="800412"/>
            </a:xfrm>
            <a:prstGeom prst="downArrow">
              <a:avLst>
                <a:gd name="adj1" fmla="val 50000"/>
                <a:gd name="adj2" fmla="val 1693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角丸四角形 52"/>
            <p:cNvSpPr/>
            <p:nvPr/>
          </p:nvSpPr>
          <p:spPr>
            <a:xfrm>
              <a:off x="179512" y="5157192"/>
              <a:ext cx="5184576" cy="648072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chemeClr val="accent1"/>
                  </a:solidFill>
                </a:rPr>
                <a:t>③レジサポ抜けたらエントリー！</a:t>
              </a:r>
              <a:endParaRPr lang="en-US" altLang="ja-JP" sz="2800" b="1" dirty="0" smtClean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681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同じ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276"/>
            <a:ext cx="9144001" cy="525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グループ化 1"/>
          <p:cNvGrpSpPr/>
          <p:nvPr/>
        </p:nvGrpSpPr>
        <p:grpSpPr>
          <a:xfrm>
            <a:off x="3131840" y="1484784"/>
            <a:ext cx="5184576" cy="3202855"/>
            <a:chOff x="3131840" y="1484784"/>
            <a:chExt cx="5184576" cy="3202855"/>
          </a:xfrm>
        </p:grpSpPr>
        <p:sp>
          <p:nvSpPr>
            <p:cNvPr id="28" name="角丸四角形 27"/>
            <p:cNvSpPr/>
            <p:nvPr/>
          </p:nvSpPr>
          <p:spPr>
            <a:xfrm>
              <a:off x="5758051" y="3499506"/>
              <a:ext cx="1440160" cy="1188133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角丸四角形 28"/>
            <p:cNvSpPr/>
            <p:nvPr/>
          </p:nvSpPr>
          <p:spPr>
            <a:xfrm>
              <a:off x="3131840" y="1484784"/>
              <a:ext cx="5184576" cy="648072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0000"/>
              </a:solidFill>
            </a:ln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rgbClr val="FF0000"/>
                  </a:solidFill>
                </a:rPr>
                <a:t>①ボリンジャーバンド収縮を確認</a:t>
              </a:r>
              <a:endParaRPr lang="en-US" altLang="ja-JP" sz="2800" b="1" dirty="0" smtClean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-36511" y="2276872"/>
            <a:ext cx="9180512" cy="2538106"/>
            <a:chOff x="-36511" y="2276872"/>
            <a:chExt cx="9180512" cy="2538106"/>
          </a:xfrm>
        </p:grpSpPr>
        <p:cxnSp>
          <p:nvCxnSpPr>
            <p:cNvPr id="33" name="直線コネクタ 32"/>
            <p:cNvCxnSpPr/>
            <p:nvPr/>
          </p:nvCxnSpPr>
          <p:spPr>
            <a:xfrm>
              <a:off x="-36511" y="3753612"/>
              <a:ext cx="9180512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テキスト ボックス 34"/>
            <p:cNvSpPr txBox="1"/>
            <p:nvPr/>
          </p:nvSpPr>
          <p:spPr>
            <a:xfrm>
              <a:off x="827584" y="3302400"/>
              <a:ext cx="29546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800" b="1" dirty="0" smtClean="0">
                  <a:solidFill>
                    <a:srgbClr val="FF6600"/>
                  </a:solidFill>
                </a:rPr>
                <a:t>レジスタンスライン</a:t>
              </a:r>
              <a:endParaRPr kumimoji="1" lang="ja-JP" altLang="en-US" sz="2800" b="1" dirty="0">
                <a:solidFill>
                  <a:srgbClr val="FF6600"/>
                </a:solidFill>
              </a:endParaRPr>
            </a:p>
          </p:txBody>
        </p:sp>
        <p:cxnSp>
          <p:nvCxnSpPr>
            <p:cNvPr id="37" name="直線コネクタ 36"/>
            <p:cNvCxnSpPr/>
            <p:nvPr/>
          </p:nvCxnSpPr>
          <p:spPr>
            <a:xfrm>
              <a:off x="-36511" y="4362264"/>
              <a:ext cx="9180512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テキスト ボックス 38"/>
            <p:cNvSpPr txBox="1"/>
            <p:nvPr/>
          </p:nvSpPr>
          <p:spPr>
            <a:xfrm>
              <a:off x="971600" y="4291758"/>
              <a:ext cx="23695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800" b="1" dirty="0" smtClean="0">
                  <a:solidFill>
                    <a:srgbClr val="FF6600"/>
                  </a:solidFill>
                </a:rPr>
                <a:t>サポートライン</a:t>
              </a:r>
              <a:endParaRPr kumimoji="1" lang="en-US" altLang="ja-JP" sz="2800" b="1" dirty="0" smtClean="0">
                <a:solidFill>
                  <a:srgbClr val="FF6600"/>
                </a:solidFill>
              </a:endParaRPr>
            </a:p>
          </p:txBody>
        </p:sp>
        <p:sp>
          <p:nvSpPr>
            <p:cNvPr id="40" name="角丸四角形 39"/>
            <p:cNvSpPr/>
            <p:nvPr/>
          </p:nvSpPr>
          <p:spPr>
            <a:xfrm>
              <a:off x="4255681" y="2276872"/>
              <a:ext cx="4085406" cy="648072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rgbClr val="FF6600"/>
              </a:solidFill>
            </a:ln>
            <a:effectLst>
              <a:glow rad="101600">
                <a:srgbClr val="FF6600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rgbClr val="FF6600"/>
                  </a:solidFill>
                </a:rPr>
                <a:t>②レジサポラインを引く</a:t>
              </a:r>
              <a:endParaRPr lang="en-US" altLang="ja-JP" sz="2800" b="1" dirty="0" smtClean="0">
                <a:solidFill>
                  <a:srgbClr val="FF6600"/>
                </a:solidFill>
              </a:endParaRPr>
            </a:p>
          </p:txBody>
        </p:sp>
      </p:grpSp>
      <p:grpSp>
        <p:nvGrpSpPr>
          <p:cNvPr id="18" name="グループ化 17"/>
          <p:cNvGrpSpPr/>
          <p:nvPr/>
        </p:nvGrpSpPr>
        <p:grpSpPr>
          <a:xfrm>
            <a:off x="179512" y="4183422"/>
            <a:ext cx="6931011" cy="1621842"/>
            <a:chOff x="179512" y="4183422"/>
            <a:chExt cx="6931011" cy="1621842"/>
          </a:xfrm>
        </p:grpSpPr>
        <p:sp>
          <p:nvSpPr>
            <p:cNvPr id="8" name="円/楕円 7"/>
            <p:cNvSpPr/>
            <p:nvPr/>
          </p:nvSpPr>
          <p:spPr>
            <a:xfrm>
              <a:off x="6678475" y="4183422"/>
              <a:ext cx="432048" cy="432048"/>
            </a:xfrm>
            <a:prstGeom prst="ellipse">
              <a:avLst/>
            </a:prstGeom>
            <a:noFill/>
            <a:ln w="31750"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下矢印 8"/>
            <p:cNvSpPr/>
            <p:nvPr/>
          </p:nvSpPr>
          <p:spPr>
            <a:xfrm>
              <a:off x="6527143" y="4391122"/>
              <a:ext cx="144016" cy="800412"/>
            </a:xfrm>
            <a:prstGeom prst="downArrow">
              <a:avLst>
                <a:gd name="adj1" fmla="val 50000"/>
                <a:gd name="adj2" fmla="val 1693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角丸四角形 52"/>
            <p:cNvSpPr/>
            <p:nvPr/>
          </p:nvSpPr>
          <p:spPr>
            <a:xfrm>
              <a:off x="179512" y="5157192"/>
              <a:ext cx="5184576" cy="648072"/>
            </a:xfrm>
            <a:prstGeom prst="round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accent1"/>
              </a:solidFill>
            </a:ln>
            <a:effectLst>
              <a:glow rad="101600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2800" b="1" dirty="0" smtClean="0">
                  <a:solidFill>
                    <a:schemeClr val="accent1"/>
                  </a:solidFill>
                </a:rPr>
                <a:t>③レジサポ抜けたらエントリー！</a:t>
              </a:r>
              <a:endParaRPr lang="en-US" altLang="ja-JP" sz="2800" b="1" dirty="0" smtClean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395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0" y="983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268760"/>
            <a:ext cx="8496944" cy="108012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確率を上げる　☑チェック項目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63415"/>
            <a:ext cx="8496944" cy="769441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）ミドルラインが横向き（レンジ）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564904"/>
            <a:ext cx="8496944" cy="1656184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1520" y="2659559"/>
            <a:ext cx="8496944" cy="1446550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）ボリバン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±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２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σ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とレジサポが平行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　かつ非常に接近している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018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7" grpId="0" animBg="1"/>
      <p:bldP spid="18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実際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のチャート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6276"/>
            <a:ext cx="9144001" cy="525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角丸四角形 28"/>
          <p:cNvSpPr/>
          <p:nvPr/>
        </p:nvSpPr>
        <p:spPr>
          <a:xfrm>
            <a:off x="3131840" y="1484784"/>
            <a:ext cx="5184576" cy="648072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solidFill>
                  <a:srgbClr val="FF0000"/>
                </a:solidFill>
              </a:rPr>
              <a:t>1</a:t>
            </a:r>
            <a:r>
              <a:rPr lang="ja-JP" altLang="en-US" sz="2800" b="1" dirty="0" smtClean="0">
                <a:solidFill>
                  <a:srgbClr val="FF0000"/>
                </a:solidFill>
              </a:rPr>
              <a:t>）ミドルラインが横向き（レンジ）</a:t>
            </a:r>
            <a:endParaRPr lang="en-US" altLang="ja-JP" sz="2800" b="1" dirty="0" smtClean="0">
              <a:solidFill>
                <a:srgbClr val="FF0000"/>
              </a:solidFill>
            </a:endParaRPr>
          </a:p>
        </p:txBody>
      </p:sp>
      <p:grpSp>
        <p:nvGrpSpPr>
          <p:cNvPr id="5" name="グループ化 4"/>
          <p:cNvGrpSpPr/>
          <p:nvPr/>
        </p:nvGrpSpPr>
        <p:grpSpPr>
          <a:xfrm>
            <a:off x="-36511" y="2385050"/>
            <a:ext cx="9180512" cy="523220"/>
            <a:chOff x="-36511" y="2385050"/>
            <a:chExt cx="9180512" cy="523220"/>
          </a:xfrm>
        </p:grpSpPr>
        <p:cxnSp>
          <p:nvCxnSpPr>
            <p:cNvPr id="33" name="直線コネクタ 32"/>
            <p:cNvCxnSpPr/>
            <p:nvPr/>
          </p:nvCxnSpPr>
          <p:spPr>
            <a:xfrm>
              <a:off x="-36511" y="2836262"/>
              <a:ext cx="9180512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円/楕円 33"/>
            <p:cNvSpPr/>
            <p:nvPr/>
          </p:nvSpPr>
          <p:spPr>
            <a:xfrm>
              <a:off x="3203848" y="2467278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5292080" y="2385050"/>
              <a:ext cx="295465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800" b="1" dirty="0" smtClean="0">
                  <a:solidFill>
                    <a:srgbClr val="FF6600"/>
                  </a:solidFill>
                </a:rPr>
                <a:t>レジスタンスライン</a:t>
              </a:r>
              <a:endParaRPr kumimoji="1" lang="en-US" altLang="ja-JP" sz="2800" b="1" dirty="0" smtClean="0">
                <a:solidFill>
                  <a:srgbClr val="FF6600"/>
                </a:solidFill>
              </a:endParaRPr>
            </a:p>
          </p:txBody>
        </p:sp>
      </p:grpSp>
      <p:grpSp>
        <p:nvGrpSpPr>
          <p:cNvPr id="4" name="グループ化 3"/>
          <p:cNvGrpSpPr/>
          <p:nvPr/>
        </p:nvGrpSpPr>
        <p:grpSpPr>
          <a:xfrm>
            <a:off x="-36511" y="3429000"/>
            <a:ext cx="9180512" cy="523220"/>
            <a:chOff x="-36511" y="3429000"/>
            <a:chExt cx="9180512" cy="523220"/>
          </a:xfrm>
        </p:grpSpPr>
        <p:cxnSp>
          <p:nvCxnSpPr>
            <p:cNvPr id="37" name="直線コネクタ 36"/>
            <p:cNvCxnSpPr/>
            <p:nvPr/>
          </p:nvCxnSpPr>
          <p:spPr>
            <a:xfrm>
              <a:off x="-36511" y="3499506"/>
              <a:ext cx="9180512" cy="0"/>
            </a:xfrm>
            <a:prstGeom prst="line">
              <a:avLst/>
            </a:prstGeom>
            <a:ln w="2857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円/楕円 37"/>
            <p:cNvSpPr/>
            <p:nvPr/>
          </p:nvSpPr>
          <p:spPr>
            <a:xfrm>
              <a:off x="3184798" y="3436442"/>
              <a:ext cx="1008112" cy="400516"/>
            </a:xfrm>
            <a:prstGeom prst="ellipse">
              <a:avLst/>
            </a:prstGeom>
            <a:noFill/>
            <a:ln>
              <a:solidFill>
                <a:srgbClr val="FF99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971600" y="3429000"/>
              <a:ext cx="23695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800" b="1" dirty="0" smtClean="0">
                  <a:solidFill>
                    <a:srgbClr val="FF6600"/>
                  </a:solidFill>
                </a:rPr>
                <a:t>サポートライン</a:t>
              </a:r>
              <a:endParaRPr kumimoji="1" lang="en-US" altLang="ja-JP" sz="2800" b="1" dirty="0" smtClean="0">
                <a:solidFill>
                  <a:srgbClr val="FF6600"/>
                </a:solidFill>
              </a:endParaRPr>
            </a:p>
          </p:txBody>
        </p:sp>
      </p:grpSp>
      <p:sp>
        <p:nvSpPr>
          <p:cNvPr id="40" name="角丸四角形 39"/>
          <p:cNvSpPr/>
          <p:nvPr/>
        </p:nvSpPr>
        <p:spPr>
          <a:xfrm>
            <a:off x="107504" y="4293096"/>
            <a:ext cx="4824536" cy="1008112"/>
          </a:xfrm>
          <a:prstGeom prst="roundRect">
            <a:avLst/>
          </a:prstGeom>
          <a:solidFill>
            <a:schemeClr val="bg1">
              <a:alpha val="0"/>
            </a:schemeClr>
          </a:solidFill>
          <a:ln>
            <a:solidFill>
              <a:srgbClr val="FF6600"/>
            </a:solidFill>
          </a:ln>
          <a:effectLst>
            <a:glow rad="101600">
              <a:srgbClr val="FF66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800" b="1" dirty="0" smtClean="0">
                <a:solidFill>
                  <a:srgbClr val="FF6600"/>
                </a:solidFill>
              </a:rPr>
              <a:t>2</a:t>
            </a:r>
            <a:r>
              <a:rPr lang="ja-JP" altLang="en-US" sz="2800" b="1" dirty="0" smtClean="0">
                <a:solidFill>
                  <a:srgbClr val="FF6600"/>
                </a:solidFill>
              </a:rPr>
              <a:t>）ボリバン</a:t>
            </a:r>
            <a:r>
              <a:rPr lang="en-US" altLang="ja-JP" sz="2800" b="1" dirty="0" smtClean="0">
                <a:solidFill>
                  <a:srgbClr val="FF6600"/>
                </a:solidFill>
              </a:rPr>
              <a:t>±2σ</a:t>
            </a:r>
            <a:r>
              <a:rPr lang="ja-JP" altLang="en-US" sz="2800" b="1" dirty="0" smtClean="0">
                <a:solidFill>
                  <a:srgbClr val="FF6600"/>
                </a:solidFill>
              </a:rPr>
              <a:t>とレジサポが</a:t>
            </a:r>
            <a:endParaRPr lang="en-US" altLang="ja-JP" sz="2800" b="1" dirty="0" smtClean="0">
              <a:solidFill>
                <a:srgbClr val="FF6600"/>
              </a:solidFill>
            </a:endParaRPr>
          </a:p>
          <a:p>
            <a:pPr algn="ctr"/>
            <a:r>
              <a:rPr lang="ja-JP" altLang="en-US" sz="2800" b="1" dirty="0" smtClean="0">
                <a:solidFill>
                  <a:srgbClr val="FF6600"/>
                </a:solidFill>
              </a:rPr>
              <a:t>平行かつ接近</a:t>
            </a:r>
            <a:endParaRPr lang="en-US" altLang="ja-JP" sz="2800" b="1" dirty="0" smtClean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83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ワーク③：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【</a:t>
            </a:r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レンジブレイク</a:t>
            </a:r>
            <a:r>
              <a:rPr lang="en-US" altLang="ja-JP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</a:rPr>
              <a:t>】</a:t>
            </a: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251520" y="1268760"/>
            <a:ext cx="8496944" cy="1080120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1363415"/>
            <a:ext cx="8496944" cy="769441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①ボリンジャーバンド収縮を確認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3" name="角丸四角形 22"/>
          <p:cNvSpPr/>
          <p:nvPr/>
        </p:nvSpPr>
        <p:spPr>
          <a:xfrm>
            <a:off x="251520" y="2564904"/>
            <a:ext cx="8496944" cy="1008112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251520" y="2636912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②レジサポを引く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25" name="角丸四角形 24"/>
          <p:cNvSpPr/>
          <p:nvPr/>
        </p:nvSpPr>
        <p:spPr>
          <a:xfrm>
            <a:off x="251520" y="3861048"/>
            <a:ext cx="8496944" cy="223224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251520" y="3933056"/>
            <a:ext cx="8496944" cy="2000548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確立を上げる為に・・・</a:t>
            </a:r>
            <a:endParaRPr lang="en-US" altLang="ja-JP" sz="36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  <a:p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1</a:t>
            </a:r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）ミドルラインが横向き（レンジ）</a:t>
            </a:r>
          </a:p>
          <a:p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2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）</a:t>
            </a:r>
            <a:r>
              <a:rPr lang="en-US" altLang="ja-JP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±</a:t>
            </a:r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２</a:t>
            </a:r>
            <a:r>
              <a:rPr lang="en-US" altLang="ja-JP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σ</a:t>
            </a:r>
            <a:r>
              <a:rPr lang="ja-JP" altLang="en-US" sz="4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とレジサポが</a:t>
            </a:r>
            <a:r>
              <a:rPr lang="ja-JP" altLang="en-US" sz="4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平行かつ接近</a:t>
            </a:r>
            <a:endParaRPr lang="en-US" altLang="ja-JP" sz="4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711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build="p"/>
      <p:bldP spid="23" grpId="0" animBg="1"/>
      <p:bldP spid="24" grpId="0" build="p"/>
      <p:bldP spid="25" grpId="0" animBg="1"/>
      <p:bldP spid="26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テキスト ボックス 1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 b="1" dirty="0" smtClean="0"/>
              <a:t>①</a:t>
            </a:r>
            <a:endParaRPr kumimoji="1" lang="ja-JP" altLang="en-US" sz="3200" b="1" dirty="0"/>
          </a:p>
        </p:txBody>
      </p:sp>
      <p:cxnSp>
        <p:nvCxnSpPr>
          <p:cNvPr id="4" name="直線コネクタ 3"/>
          <p:cNvCxnSpPr/>
          <p:nvPr/>
        </p:nvCxnSpPr>
        <p:spPr>
          <a:xfrm>
            <a:off x="-36511" y="96708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/>
          <p:cNvCxnSpPr/>
          <p:nvPr/>
        </p:nvCxnSpPr>
        <p:spPr>
          <a:xfrm>
            <a:off x="-36511" y="540428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-36511" y="285293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344641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角丸四角形 7"/>
          <p:cNvSpPr/>
          <p:nvPr/>
        </p:nvSpPr>
        <p:spPr>
          <a:xfrm>
            <a:off x="6372200" y="2564904"/>
            <a:ext cx="1440160" cy="1188133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0831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4" y="0"/>
            <a:ext cx="9144000" cy="68580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②</a:t>
            </a:r>
            <a:endParaRPr kumimoji="1" lang="ja-JP" altLang="en-US" sz="3200" b="1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-36511" y="8367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-36511" y="471721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388834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306896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268162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角丸四角形 9"/>
          <p:cNvSpPr/>
          <p:nvPr/>
        </p:nvSpPr>
        <p:spPr>
          <a:xfrm>
            <a:off x="1331640" y="3712093"/>
            <a:ext cx="2088232" cy="1188133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/>
          <p:cNvSpPr/>
          <p:nvPr/>
        </p:nvSpPr>
        <p:spPr>
          <a:xfrm>
            <a:off x="4126304" y="2366296"/>
            <a:ext cx="1800200" cy="100879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/>
          <p:cNvCxnSpPr/>
          <p:nvPr/>
        </p:nvCxnSpPr>
        <p:spPr>
          <a:xfrm>
            <a:off x="-36511" y="58772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626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81"/>
            <a:ext cx="9144000" cy="6836919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③</a:t>
            </a:r>
            <a:endParaRPr kumimoji="1" lang="ja-JP" altLang="en-US" sz="3200" b="1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-36511" y="193424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566124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215027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312732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角丸四角形 9"/>
          <p:cNvSpPr/>
          <p:nvPr/>
        </p:nvSpPr>
        <p:spPr>
          <a:xfrm>
            <a:off x="539552" y="1934248"/>
            <a:ext cx="3096344" cy="144084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97"/>
            <a:ext cx="9144000" cy="6851803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④</a:t>
            </a:r>
            <a:endParaRPr kumimoji="1" lang="ja-JP" altLang="en-US" sz="3200" b="1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-36511" y="9397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53012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⑤</a:t>
            </a:r>
            <a:endParaRPr kumimoji="1" lang="ja-JP" altLang="en-US" sz="3200" b="1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-36511" y="158408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-36511" y="552100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471526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394670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191683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-36511" y="230793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1850648" y="3802688"/>
            <a:ext cx="2592288" cy="106647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4427984" y="1607319"/>
            <a:ext cx="2592288" cy="106647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"/>
            <a:ext cx="9144000" cy="6857377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⑥</a:t>
            </a:r>
            <a:endParaRPr kumimoji="1" lang="ja-JP" altLang="en-US" sz="3200" b="1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-36511" y="81318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-36511" y="518448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3"/>
            <a:ext cx="9144000" cy="6857377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 b="1" dirty="0" smtClean="0"/>
              <a:t>⑦</a:t>
            </a:r>
            <a:endParaRPr kumimoji="1" lang="ja-JP" altLang="en-US" sz="3200" b="1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-36511" y="79576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-36511" y="54664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35010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292494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229428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-36511" y="170080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>
            <a:off x="-36511" y="97084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角丸四角形 11"/>
          <p:cNvSpPr/>
          <p:nvPr/>
        </p:nvSpPr>
        <p:spPr>
          <a:xfrm>
            <a:off x="2987824" y="2722568"/>
            <a:ext cx="2304256" cy="994464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4760728" y="2119208"/>
            <a:ext cx="2304256" cy="994464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角丸四角形 13"/>
          <p:cNvSpPr/>
          <p:nvPr/>
        </p:nvSpPr>
        <p:spPr>
          <a:xfrm>
            <a:off x="6474767" y="838694"/>
            <a:ext cx="2304256" cy="994464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42"/>
            <a:ext cx="9144000" cy="6850558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⑧</a:t>
            </a:r>
            <a:endParaRPr kumimoji="1" lang="ja-JP" altLang="en-US" sz="3200" b="1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-36511" y="66540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/>
          <p:cNvCxnSpPr/>
          <p:nvPr/>
        </p:nvCxnSpPr>
        <p:spPr>
          <a:xfrm>
            <a:off x="-36511" y="558924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429309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3350833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269150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0" y="4077072"/>
            <a:ext cx="3491880" cy="172819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3707904" y="2492896"/>
            <a:ext cx="2448272" cy="10379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⑨</a:t>
            </a:r>
            <a:endParaRPr kumimoji="1" lang="ja-JP" altLang="en-US" sz="3200" b="1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-36511" y="1844824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498964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242465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-36511" y="2595968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-36511" y="325392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323528" y="1700808"/>
            <a:ext cx="2520280" cy="10379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/>
          <p:cNvSpPr/>
          <p:nvPr/>
        </p:nvSpPr>
        <p:spPr>
          <a:xfrm>
            <a:off x="6516216" y="2391068"/>
            <a:ext cx="1656184" cy="1037932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8527632" y="6260133"/>
            <a:ext cx="59663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 b="1" dirty="0" smtClean="0"/>
              <a:t>⑩</a:t>
            </a:r>
            <a:endParaRPr kumimoji="1" lang="ja-JP" altLang="en-US" sz="3200" b="1" dirty="0"/>
          </a:p>
        </p:txBody>
      </p:sp>
      <p:cxnSp>
        <p:nvCxnSpPr>
          <p:cNvPr id="6" name="直線コネクタ 5"/>
          <p:cNvCxnSpPr/>
          <p:nvPr/>
        </p:nvCxnSpPr>
        <p:spPr>
          <a:xfrm>
            <a:off x="-36511" y="237617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-36511" y="5517232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/>
          <p:cNvCxnSpPr/>
          <p:nvPr/>
        </p:nvCxnSpPr>
        <p:spPr>
          <a:xfrm>
            <a:off x="-36511" y="354572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-36511" y="5013176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>
            <a:off x="-36511" y="4382520"/>
            <a:ext cx="9180512" cy="0"/>
          </a:xfrm>
          <a:prstGeom prst="line">
            <a:avLst/>
          </a:prstGeom>
          <a:ln w="28575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角丸四角形 11"/>
          <p:cNvSpPr/>
          <p:nvPr/>
        </p:nvSpPr>
        <p:spPr>
          <a:xfrm>
            <a:off x="35496" y="2204864"/>
            <a:ext cx="4176464" cy="146998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5508104" y="4280692"/>
            <a:ext cx="2304256" cy="87650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16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/>
          <p:cNvGrpSpPr/>
          <p:nvPr/>
        </p:nvGrpSpPr>
        <p:grpSpPr>
          <a:xfrm>
            <a:off x="-36511" y="0"/>
            <a:ext cx="9180512" cy="6858000"/>
            <a:chOff x="-36511" y="0"/>
            <a:chExt cx="9180512" cy="6858000"/>
          </a:xfrm>
        </p:grpSpPr>
        <p:pic>
          <p:nvPicPr>
            <p:cNvPr id="11" name="図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511" y="0"/>
              <a:ext cx="9180512" cy="6858000"/>
            </a:xfrm>
            <a:prstGeom prst="rect">
              <a:avLst/>
            </a:prstGeom>
          </p:spPr>
        </p:pic>
        <p:grpSp>
          <p:nvGrpSpPr>
            <p:cNvPr id="12" name="グループ化 11"/>
            <p:cNvGrpSpPr/>
            <p:nvPr/>
          </p:nvGrpSpPr>
          <p:grpSpPr>
            <a:xfrm>
              <a:off x="-36511" y="0"/>
              <a:ext cx="9180512" cy="6858000"/>
              <a:chOff x="-36511" y="0"/>
              <a:chExt cx="9180512" cy="6858000"/>
            </a:xfrm>
          </p:grpSpPr>
          <p:sp>
            <p:nvSpPr>
              <p:cNvPr id="13" name="正方形/長方形 12"/>
              <p:cNvSpPr/>
              <p:nvPr/>
            </p:nvSpPr>
            <p:spPr>
              <a:xfrm>
                <a:off x="-36511" y="0"/>
                <a:ext cx="9180512" cy="6858000"/>
              </a:xfrm>
              <a:prstGeom prst="rect">
                <a:avLst/>
              </a:prstGeom>
              <a:solidFill>
                <a:schemeClr val="bg1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4" name="Rectangle 3"/>
              <p:cNvSpPr txBox="1">
                <a:spLocks noChangeArrowheads="1"/>
              </p:cNvSpPr>
              <p:nvPr/>
            </p:nvSpPr>
            <p:spPr bwMode="auto">
              <a:xfrm>
                <a:off x="0" y="6453336"/>
                <a:ext cx="9144000" cy="3326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0" indent="0" algn="r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Tx/>
                  <a:buNone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800">
                    <a:solidFill>
                      <a:schemeClr val="bg1"/>
                    </a:solidFill>
                    <a:latin typeface="+mn-lt"/>
                    <a:ea typeface="+mn-ea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400">
                    <a:solidFill>
                      <a:schemeClr val="bg1"/>
                    </a:solidFill>
                    <a:latin typeface="+mn-lt"/>
                    <a:ea typeface="+mn-ea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bg1"/>
                    </a:solidFill>
                    <a:latin typeface="+mn-lt"/>
                    <a:ea typeface="+mn-ea"/>
                  </a:defRPr>
                </a:lvl9pPr>
              </a:lstStyle>
              <a:p>
                <a:pPr algn="ctr"/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2014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ReVESTOR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altLang="ja-JP" sz="1400" b="1" kern="0" dirty="0" err="1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inc</a:t>
                </a:r>
                <a:r>
                  <a:rPr lang="en-US" altLang="ja-JP" sz="1400" b="1" kern="0" dirty="0" smtClean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All Right Reserved.</a:t>
                </a:r>
                <a:endParaRPr lang="ja-JP" altLang="ja-JP" sz="14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</p:grpSp>
      <p:sp>
        <p:nvSpPr>
          <p:cNvPr id="8" name="角丸四角形 7"/>
          <p:cNvSpPr/>
          <p:nvPr/>
        </p:nvSpPr>
        <p:spPr>
          <a:xfrm>
            <a:off x="251520" y="1268760"/>
            <a:ext cx="8496944" cy="102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-27384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お楽しみ様でした・・・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  <p:sp>
        <p:nvSpPr>
          <p:cNvPr id="16" name="角丸四角形 15"/>
          <p:cNvSpPr/>
          <p:nvPr/>
        </p:nvSpPr>
        <p:spPr>
          <a:xfrm>
            <a:off x="251520" y="935009"/>
            <a:ext cx="8496944" cy="45719"/>
          </a:xfrm>
          <a:prstGeom prst="roundRect">
            <a:avLst/>
          </a:prstGeom>
          <a:solidFill>
            <a:srgbClr val="FF0000"/>
          </a:solidFill>
          <a:ln w="12700" cap="flat" cmpd="sng" algn="ctr">
            <a:solidFill>
              <a:srgbClr val="00CC99">
                <a:shade val="50000"/>
              </a:srgbClr>
            </a:solidFill>
            <a:prstDash val="solid"/>
          </a:ln>
          <a:effectLst>
            <a:glow rad="88900">
              <a:srgbClr val="FFFF00">
                <a:alpha val="40000"/>
              </a:srgbClr>
            </a:glow>
          </a:effectLst>
          <a:scene3d>
            <a:camera prst="orthographicFront"/>
            <a:lightRig rig="threePt" dir="t"/>
          </a:scene3d>
          <a:sp3d contourW="12700">
            <a:bevelT prst="slope"/>
            <a:contourClr>
              <a:srgbClr val="FFC000"/>
            </a:contourClr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381244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基礎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目的地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</p:txBody>
      </p:sp>
      <p:sp>
        <p:nvSpPr>
          <p:cNvPr id="18" name="角丸四角形 17"/>
          <p:cNvSpPr/>
          <p:nvPr/>
        </p:nvSpPr>
        <p:spPr>
          <a:xfrm>
            <a:off x="251520" y="3933056"/>
            <a:ext cx="8496944" cy="97210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51520" y="4005064"/>
            <a:ext cx="8496944" cy="707886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≪実践編≫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ブレーク</a:t>
            </a:r>
            <a:r>
              <a:rPr lang="en-US" altLang="ja-JP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エントリー攻略法</a:t>
            </a:r>
            <a:endParaRPr lang="ja-JP" altLang="en-US" sz="40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  <p:sp>
        <p:nvSpPr>
          <p:cNvPr id="17" name="角丸四角形 16"/>
          <p:cNvSpPr/>
          <p:nvPr/>
        </p:nvSpPr>
        <p:spPr>
          <a:xfrm>
            <a:off x="251520" y="2636912"/>
            <a:ext cx="8496944" cy="1022337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251520" y="2749396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36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≪基礎編≫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トレンド</a:t>
            </a:r>
            <a:r>
              <a:rPr lang="en-US" altLang="ja-JP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  <a:r>
              <a:rPr lang="ja-JP" altLang="en-US" sz="40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と</a:t>
            </a:r>
            <a:r>
              <a:rPr lang="en-US" altLang="ja-JP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【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抵抗帯</a:t>
            </a:r>
            <a:r>
              <a:rPr lang="en-US" altLang="ja-JP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】</a:t>
            </a:r>
          </a:p>
        </p:txBody>
      </p:sp>
      <p:sp>
        <p:nvSpPr>
          <p:cNvPr id="21" name="角丸四角形 20"/>
          <p:cNvSpPr/>
          <p:nvPr/>
        </p:nvSpPr>
        <p:spPr>
          <a:xfrm>
            <a:off x="251520" y="5229200"/>
            <a:ext cx="8496944" cy="972108"/>
          </a:xfrm>
          <a:prstGeom prst="roundRect">
            <a:avLst/>
          </a:prstGeom>
          <a:gradFill>
            <a:gsLst>
              <a:gs pos="50000">
                <a:srgbClr val="FFC000"/>
              </a:gs>
              <a:gs pos="0">
                <a:srgbClr val="FFFF00">
                  <a:lumMod val="47000"/>
                  <a:lumOff val="53000"/>
                  <a:alpha val="91000"/>
                </a:srgbClr>
              </a:gs>
              <a:gs pos="100000">
                <a:schemeClr val="accent6">
                  <a:lumMod val="84000"/>
                </a:schemeClr>
              </a:gs>
            </a:gsLst>
            <a:lin ang="5400000" scaled="0"/>
          </a:gradFill>
          <a:ln w="28575" cap="flat" cmpd="sng" algn="ctr">
            <a:solidFill>
              <a:srgbClr val="FF0000"/>
            </a:solidFill>
            <a:prstDash val="solid"/>
          </a:ln>
          <a:effectLst>
            <a:glow rad="165100">
              <a:srgbClr val="FFC000">
                <a:alpha val="54000"/>
              </a:srgbClr>
            </a:glow>
            <a:outerShdw blurRad="50800" dist="203200" dir="5400000" algn="t" rotWithShape="0">
              <a:schemeClr val="bg2">
                <a:lumMod val="90000"/>
                <a:alpha val="79000"/>
              </a:schemeClr>
            </a:outerShdw>
            <a:reflection blurRad="6350" stA="50000" endA="300" endPos="21000" dist="50800" dir="5400000" sy="-100000" algn="bl" rotWithShape="0"/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ＭＳ Ｐゴシック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251520" y="5301208"/>
            <a:ext cx="8496944" cy="830997"/>
          </a:xfrm>
          <a:prstGeom prst="rect">
            <a:avLst/>
          </a:prstGeom>
          <a:noFill/>
          <a:effectLst>
            <a:glow rad="101600">
              <a:srgbClr val="FFC000">
                <a:alpha val="61000"/>
              </a:srgbClr>
            </a:glow>
            <a:softEdge rad="31750"/>
          </a:effectLst>
        </p:spPr>
        <p:txBody>
          <a:bodyPr wrap="square" rtlCol="0">
            <a:spAutoFit/>
          </a:bodyPr>
          <a:lstStyle/>
          <a:p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⇒</a:t>
            </a:r>
            <a:r>
              <a:rPr lang="ja-JP" altLang="en-US" sz="48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次</a:t>
            </a:r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</a:effectLst>
              </a:rPr>
              <a:t>の講師もお楽しみに・・・</a:t>
            </a:r>
            <a:endParaRPr lang="ja-JP" altLang="en-US" sz="54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64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8" grpId="0" animBg="1"/>
      <p:bldP spid="19" grpId="0" build="p"/>
      <p:bldP spid="17" grpId="0" animBg="1"/>
      <p:bldP spid="20" grpId="0" build="p"/>
      <p:bldP spid="21" grpId="0" animBg="1"/>
      <p:bldP spid="22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36512" y="297989"/>
            <a:ext cx="9180512" cy="1042779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5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ガッツリ大成幸しましょう！</a:t>
            </a:r>
            <a:endParaRPr lang="en-US" altLang="ja-JP" sz="5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62" y="4653136"/>
            <a:ext cx="2784309" cy="2088232"/>
          </a:xfrm>
          <a:prstGeom prst="rect">
            <a:avLst/>
          </a:prstGeom>
        </p:spPr>
      </p:pic>
      <p:pic>
        <p:nvPicPr>
          <p:cNvPr id="7" name="図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2"/>
          <a:stretch/>
        </p:blipFill>
        <p:spPr>
          <a:xfrm>
            <a:off x="269358" y="1484784"/>
            <a:ext cx="1710354" cy="2800873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243" y="1484784"/>
            <a:ext cx="3710901" cy="2783176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990" b="8772"/>
          <a:stretch/>
        </p:blipFill>
        <p:spPr>
          <a:xfrm>
            <a:off x="2305421" y="4440342"/>
            <a:ext cx="3562723" cy="2304304"/>
          </a:xfrm>
          <a:prstGeom prst="rect">
            <a:avLst/>
          </a:prstGeom>
        </p:spPr>
      </p:pic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7" b="16795"/>
          <a:stretch/>
        </p:blipFill>
        <p:spPr>
          <a:xfrm>
            <a:off x="6036161" y="1484784"/>
            <a:ext cx="2777975" cy="1308581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62" y="2946509"/>
            <a:ext cx="2777975" cy="1562611"/>
          </a:xfrm>
          <a:prstGeom prst="rect">
            <a:avLst/>
          </a:prstGeom>
        </p:spPr>
      </p:pic>
      <p:pic>
        <p:nvPicPr>
          <p:cNvPr id="23" name="図 22"/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582" t="12961" r="29553"/>
          <a:stretch/>
        </p:blipFill>
        <p:spPr>
          <a:xfrm>
            <a:off x="269358" y="4440342"/>
            <a:ext cx="1800200" cy="232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395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1" y="0"/>
            <a:ext cx="9180512" cy="68580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36512" y="4293096"/>
            <a:ext cx="9180512" cy="252028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endParaRPr lang="en-US" altLang="ja-JP" sz="24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  <a:p>
            <a:pPr lvl="0" algn="ctr"/>
            <a:endParaRPr lang="en-US" altLang="ja-JP" sz="24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  <a:p>
            <a:pPr algn="ctr"/>
            <a:r>
              <a:rPr lang="ja-JP" altLang="en-US" sz="2400" kern="0" dirty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ＦＸ塾ＳＴＡＲＳ講師　白土　</a:t>
            </a:r>
            <a:r>
              <a:rPr lang="ja-JP" altLang="en-US" sz="24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潤</a:t>
            </a:r>
            <a:endParaRPr lang="en-US" altLang="ja-JP" sz="1100" kern="0" dirty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  <a:latin typeface="Times New Roman" charset="0"/>
              <a:ea typeface="ＭＳ Ｐゴシック" charset="-128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0" y="6453336"/>
            <a:ext cx="9144000" cy="332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28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bg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bg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bg1"/>
                </a:solidFill>
                <a:latin typeface="+mn-lt"/>
                <a:ea typeface="+mn-ea"/>
              </a:defRPr>
            </a:lvl9pPr>
          </a:lstStyle>
          <a:p>
            <a:pPr algn="ctr"/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2014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ReVESTOR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ja-JP" sz="1400" b="1" kern="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inc</a:t>
            </a:r>
            <a:r>
              <a:rPr lang="en-US" altLang="ja-JP" sz="1400" b="1" kern="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, All Right Reserved.</a:t>
            </a:r>
            <a:endParaRPr lang="ja-JP" altLang="ja-JP" sz="1400" b="1" kern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-36512" y="2276872"/>
            <a:ext cx="9180512" cy="1656184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freezing" dir="t"/>
            </a:scene3d>
            <a:sp3d extrusionH="25400" contourW="25400" prstMaterial="plastic">
              <a:bevelT w="63500" h="63500"/>
              <a:extrusionClr>
                <a:srgbClr val="FFC000"/>
              </a:extrusionClr>
              <a:contourClr>
                <a:srgbClr val="FFC000"/>
              </a:contourClr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bg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/>
            <a:r>
              <a:rPr lang="ja-JP" altLang="en-US" sz="4800" kern="0" dirty="0" smtClean="0">
                <a:solidFill>
                  <a:srgbClr val="FF0000"/>
                </a:solidFill>
                <a:effectLst>
                  <a:glow rad="254000">
                    <a:srgbClr val="FFFF00">
                      <a:alpha val="40000"/>
                    </a:srgbClr>
                  </a:glow>
                  <a:outerShdw blurRad="127000" dist="127000" dir="5400000" algn="t" rotWithShape="0">
                    <a:srgbClr val="FFC000">
                      <a:alpha val="12000"/>
                    </a:srgbClr>
                  </a:outerShdw>
                </a:effectLst>
                <a:latin typeface="Times New Roman" charset="0"/>
                <a:ea typeface="ＭＳ Ｐゴシック" charset="-128"/>
              </a:rPr>
              <a:t>ご清聴ありがとうございました。</a:t>
            </a:r>
            <a:endParaRPr lang="en-US" altLang="ja-JP" sz="4800" kern="0" dirty="0" smtClean="0">
              <a:solidFill>
                <a:srgbClr val="FF0000"/>
              </a:solidFill>
              <a:effectLst>
                <a:glow rad="254000">
                  <a:srgbClr val="FFFF00">
                    <a:alpha val="40000"/>
                  </a:srgbClr>
                </a:glow>
                <a:outerShdw blurRad="127000" dist="127000" dir="5400000" algn="t" rotWithShape="0">
                  <a:srgbClr val="FFC000">
                    <a:alpha val="12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461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</p:bldLst>
  </p:timing>
</p:sld>
</file>

<file path=ppt/theme/theme1.xml><?xml version="1.0" encoding="utf-8"?>
<a:theme xmlns:a="http://schemas.openxmlformats.org/drawingml/2006/main" name="cool12-s-4">
  <a:themeElements>
    <a:clrScheme name="s-cool18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-cool18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-cool18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-cool18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ool12-s-4">
  <a:themeElements>
    <a:clrScheme name="s-cool18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-cool18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-cool18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-cool18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-cool1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15178</TotalTime>
  <Words>2387</Words>
  <Application>Microsoft Office PowerPoint</Application>
  <PresentationFormat>画面に合わせる (4:3)</PresentationFormat>
  <Paragraphs>472</Paragraphs>
  <Slides>103</Slides>
  <Notes>0</Notes>
  <HiddenSlides>0</HiddenSlides>
  <MMClips>2</MMClips>
  <ScaleCrop>false</ScaleCrop>
  <HeadingPairs>
    <vt:vector size="4" baseType="variant">
      <vt:variant>
        <vt:lpstr>テーマ</vt:lpstr>
      </vt:variant>
      <vt:variant>
        <vt:i4>4</vt:i4>
      </vt:variant>
      <vt:variant>
        <vt:lpstr>スライド タイトル</vt:lpstr>
      </vt:variant>
      <vt:variant>
        <vt:i4>103</vt:i4>
      </vt:variant>
    </vt:vector>
  </HeadingPairs>
  <TitlesOfParts>
    <vt:vector size="107" baseType="lpstr">
      <vt:lpstr>cool12-s-4</vt:lpstr>
      <vt:lpstr>Office ​​テーマ</vt:lpstr>
      <vt:lpstr>2_Office ​​テーマ</vt:lpstr>
      <vt:lpstr>2_cool12-s-4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【INVESTOR  TRIANGLE】</dc:title>
  <dc:creator>KAZUKI</dc:creator>
  <cp:lastModifiedBy>Jun</cp:lastModifiedBy>
  <cp:revision>795</cp:revision>
  <cp:lastPrinted>2014-07-10T08:17:54Z</cp:lastPrinted>
  <dcterms:created xsi:type="dcterms:W3CDTF">2013-02-24T13:31:00Z</dcterms:created>
  <dcterms:modified xsi:type="dcterms:W3CDTF">2014-07-20T14:49:56Z</dcterms:modified>
</cp:coreProperties>
</file>